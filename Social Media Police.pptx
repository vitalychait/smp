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fonts/Font_4_Urbanist_BoldItalic.fntdata" ContentType="application/x-fontdata"/>
  <Override PartName="/ppt/fonts/Font_1_Urbanist_Regular.fntdata" ContentType="application/x-fontdata"/>
  <Override PartName="/ppt/fonts/Font_2_Urbanist_Bold.fntdata" ContentType="application/x-fontdata"/>
  <Override PartName="/ppt/fonts/Font_3_Urbanist_Italic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8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embeddedFontLst>
    <p:embeddedFont>
      <p:font typeface="Urbanist"/>
      <p:regular r:id="rId13"/>
      <p:bold r:id="rId14"/>
      <p:italic r:id="rId15"/>
      <p:boldItalic r:id="rId16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_1_Urbanist_Regular.fntdata"/><Relationship Id="rId14" Type="http://schemas.openxmlformats.org/officeDocument/2006/relationships/font" Target="fonts/Font_2_Urbanist_Bold.fntdata"/><Relationship Id="rId15" Type="http://schemas.openxmlformats.org/officeDocument/2006/relationships/font" Target="fonts/Font_3_Urbanist_Italic.fntdata"/><Relationship Id="rId16" Type="http://schemas.openxmlformats.org/officeDocument/2006/relationships/font" Target="fonts/Font_4_Urbanist_BoldItalic.fntdata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7407E2C-39CE-43AB-8A82-99E77499B4A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802393-BE2D-4B6D-9103-FBB5CCC0F513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59CF91-0E5E-41A8-8800-79BFEE40547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B2C8C0-4E4B-41CA-BE4C-D9FD02C66E3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090707-91B1-4FED-9755-4A7FF97A8A1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22F0A4-F500-4B96-B54D-CD75347D9C4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CB29F5-3E90-4305-B578-DA3FCF349D5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5C2772-5129-4480-A48F-656BD203A6F9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583DC2-34E2-4AC5-8B4F-16ECCBC9A25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E047CC-68EC-4826-9AF4-CEE1C53F47A2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68BD88-663B-4BD7-806E-6C65A482F46D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github.com/VitalyChait/SocialPolicy" TargetMode="External"/><Relationship Id="rId3" Type="http://schemas.openxmlformats.org/officeDocument/2006/relationships/hyperlink" Target="mailto:chaitvitaly@gmail.com" TargetMode="External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85;p13"/>
          <p:cNvSpPr/>
          <p:nvPr/>
        </p:nvSpPr>
        <p:spPr>
          <a:xfrm>
            <a:off x="295200" y="2564280"/>
            <a:ext cx="11601000" cy="75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Social Media Police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3"/>
          <p:cNvSpPr/>
          <p:nvPr/>
        </p:nvSpPr>
        <p:spPr>
          <a:xfrm>
            <a:off x="2286000" y="3508920"/>
            <a:ext cx="7619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Restoring Trust in the Feed: A Client-Side Forensic Repository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3"/>
          <p:cNvSpPr/>
          <p:nvPr/>
        </p:nvSpPr>
        <p:spPr>
          <a:xfrm>
            <a:off x="5619600" y="4255560"/>
            <a:ext cx="952200" cy="3780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92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93;p14" descr="image.png"/>
          <p:cNvPicPr/>
          <p:nvPr/>
        </p:nvPicPr>
        <p:blipFill>
          <a:blip r:embed="rId2"/>
          <a:stretch/>
        </p:blipFill>
        <p:spPr>
          <a:xfrm>
            <a:off x="6381720" y="1990800"/>
            <a:ext cx="523836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94;p14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The Landscape: Trust in Crisis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5;p14"/>
          <p:cNvSpPr/>
          <p:nvPr/>
        </p:nvSpPr>
        <p:spPr>
          <a:xfrm>
            <a:off x="571680" y="2085840"/>
            <a:ext cx="523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Social media feeds are facing an unprecedented crisis of authenticity, driven by three converging factors: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96;p14" descr="image.png"/>
          <p:cNvPicPr/>
          <p:nvPr/>
        </p:nvPicPr>
        <p:blipFill>
          <a:blip r:embed="rId3"/>
          <a:stretch/>
        </p:blipFill>
        <p:spPr>
          <a:xfrm>
            <a:off x="6391440" y="2000160"/>
            <a:ext cx="521928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97;p14"/>
          <p:cNvSpPr/>
          <p:nvPr/>
        </p:nvSpPr>
        <p:spPr>
          <a:xfrm>
            <a:off x="905040" y="2886120"/>
            <a:ext cx="49050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AI Flood: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Generative AI creates synthetic "slop" engagement bait that mimics human sentiment perfectly.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98;p14"/>
          <p:cNvSpPr/>
          <p:nvPr/>
        </p:nvSpPr>
        <p:spPr>
          <a:xfrm>
            <a:off x="905040" y="3686040"/>
            <a:ext cx="4905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Misinformation Gap: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Fact-checking typically occurs hours after a post has gone viral, too late to stop the spread.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9;p14"/>
          <p:cNvSpPr/>
          <p:nvPr/>
        </p:nvSpPr>
        <p:spPr>
          <a:xfrm>
            <a:off x="905040" y="4791240"/>
            <a:ext cx="4905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Walled Gardens: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Platforms like Facebook restrict API access, preventing traditional server-side analysis tools from working.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Google Shape;100;p14" descr="image.png"/>
          <p:cNvPicPr/>
          <p:nvPr/>
        </p:nvPicPr>
        <p:blipFill>
          <a:blip r:embed="rId4"/>
          <a:stretch/>
        </p:blipFill>
        <p:spPr>
          <a:xfrm>
            <a:off x="571680" y="2938320"/>
            <a:ext cx="2376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Google Shape;101;p14" descr="image.png"/>
          <p:cNvPicPr/>
          <p:nvPr/>
        </p:nvPicPr>
        <p:blipFill>
          <a:blip r:embed="rId5"/>
          <a:stretch/>
        </p:blipFill>
        <p:spPr>
          <a:xfrm>
            <a:off x="571680" y="37386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02;p14" descr="image.png"/>
          <p:cNvPicPr/>
          <p:nvPr/>
        </p:nvPicPr>
        <p:blipFill>
          <a:blip r:embed="rId6"/>
          <a:stretch/>
        </p:blipFill>
        <p:spPr>
          <a:xfrm>
            <a:off x="571680" y="4843440"/>
            <a:ext cx="171000" cy="1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07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Google Shape;108;p15"/>
          <p:cNvSpPr/>
          <p:nvPr/>
        </p:nvSpPr>
        <p:spPr>
          <a:xfrm>
            <a:off x="762120" y="762120"/>
            <a:ext cx="4800240" cy="165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The Solution: </a:t>
            </a:r>
            <a:br>
              <a:rPr sz="1800"/>
            </a:br>
            <a:r>
              <a:rPr b="1" lang="en-US" sz="3600" strike="noStrike" u="none">
                <a:solidFill>
                  <a:srgbClr val="34d399"/>
                </a:solidFill>
                <a:effectLst/>
                <a:uFillTx/>
                <a:latin typeface="Urbanist"/>
                <a:ea typeface="Urbanist"/>
              </a:rPr>
              <a:t>The Client-Side Observer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Google Shape;109;p15" descr="image.png"/>
          <p:cNvPicPr/>
          <p:nvPr/>
        </p:nvPicPr>
        <p:blipFill>
          <a:blip r:embed="rId2"/>
          <a:stretch/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Google Shape;110;p15"/>
          <p:cNvSpPr/>
          <p:nvPr/>
        </p:nvSpPr>
        <p:spPr>
          <a:xfrm>
            <a:off x="762120" y="2990880"/>
            <a:ext cx="45716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If we can't access the API, we go to the source: </a:t>
            </a: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Browser.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1;p15"/>
          <p:cNvSpPr/>
          <p:nvPr/>
        </p:nvSpPr>
        <p:spPr>
          <a:xfrm>
            <a:off x="762120" y="3790800"/>
            <a:ext cx="4571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Our solution is a browser extension that acts as a beat officer on the user's screen. It bypasses API restrictions by analyzing content directly from the DOM as it renders.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2;p15"/>
          <p:cNvSpPr/>
          <p:nvPr/>
        </p:nvSpPr>
        <p:spPr>
          <a:xfrm>
            <a:off x="762120" y="5200560"/>
            <a:ext cx="45716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It observes, analyzes, and injects a forensic "badge" onto posts in real-time, giving users immediate verification without platform permission.</a:t>
            </a:r>
            <a:br>
              <a:rPr sz="1500"/>
            </a:b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results are saved into a local DB.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129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oogle Shape;130;p17" descr="image.png"/>
          <p:cNvPicPr/>
          <p:nvPr/>
        </p:nvPicPr>
        <p:blipFill>
          <a:blip r:embed="rId2"/>
          <a:stretch/>
        </p:blipFill>
        <p:spPr>
          <a:xfrm>
            <a:off x="571680" y="1990800"/>
            <a:ext cx="523836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Google Shape;131;p17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Phase 1: The AI Slope (Detection)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Google Shape;132;p17" descr="image.png"/>
          <p:cNvPicPr/>
          <p:nvPr/>
        </p:nvPicPr>
        <p:blipFill>
          <a:blip r:embed="rId3"/>
          <a:stretch/>
        </p:blipFill>
        <p:spPr>
          <a:xfrm>
            <a:off x="581040" y="2000160"/>
            <a:ext cx="521928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Google Shape;133;p17"/>
          <p:cNvSpPr/>
          <p:nvPr/>
        </p:nvSpPr>
        <p:spPr>
          <a:xfrm>
            <a:off x="6381720" y="2390760"/>
            <a:ext cx="52383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How do we spot a bot? We look for the </a:t>
            </a:r>
            <a:r>
              <a:rPr b="1" lang="en-US" sz="1500" strike="noStrike" u="none">
                <a:solidFill>
                  <a:srgbClr val="34d399"/>
                </a:solidFill>
                <a:effectLst/>
                <a:uFillTx/>
                <a:latin typeface="Urbanist"/>
                <a:ea typeface="Urbanist"/>
              </a:rPr>
              <a:t>absence of humanity.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4;p17"/>
          <p:cNvSpPr/>
          <p:nvPr/>
        </p:nvSpPr>
        <p:spPr>
          <a:xfrm>
            <a:off x="6715080" y="2886120"/>
            <a:ext cx="4905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Perplexity Analysis: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Measures the "surprise" of the text. AI models are predictable (low perplexity) and mostly do not have spelling mistakes, </a:t>
            </a: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humans are chaotic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35;p17"/>
          <p:cNvSpPr/>
          <p:nvPr/>
        </p:nvSpPr>
        <p:spPr>
          <a:xfrm>
            <a:off x="6715080" y="3990960"/>
            <a:ext cx="4905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Burstiness: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AI writes in uniform sentence lengths, </a:t>
            </a: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humans are chaotic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36;p17"/>
          <p:cNvSpPr/>
          <p:nvPr/>
        </p:nvSpPr>
        <p:spPr>
          <a:xfrm>
            <a:off x="6715080" y="4791240"/>
            <a:ext cx="4905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Emotions: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Robots are cold, </a:t>
            </a: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humans are chaotic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Google Shape;137;p17" descr="image.png"/>
          <p:cNvPicPr/>
          <p:nvPr/>
        </p:nvPicPr>
        <p:blipFill>
          <a:blip r:embed="rId4"/>
          <a:stretch/>
        </p:blipFill>
        <p:spPr>
          <a:xfrm>
            <a:off x="6381720" y="2938320"/>
            <a:ext cx="2376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38;p17" descr="image.png"/>
          <p:cNvPicPr/>
          <p:nvPr/>
        </p:nvPicPr>
        <p:blipFill>
          <a:blip r:embed="rId5"/>
          <a:stretch/>
        </p:blipFill>
        <p:spPr>
          <a:xfrm>
            <a:off x="6381720" y="404352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139;p17" descr="image.png"/>
          <p:cNvPicPr/>
          <p:nvPr/>
        </p:nvPicPr>
        <p:blipFill>
          <a:blip r:embed="rId6"/>
          <a:stretch/>
        </p:blipFill>
        <p:spPr>
          <a:xfrm>
            <a:off x="6381720" y="4843440"/>
            <a:ext cx="190080" cy="1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144;p18" descr="image.png"/>
          <p:cNvPicPr/>
          <p:nvPr/>
        </p:nvPicPr>
        <p:blipFill>
          <a:blip r:embed="rId1"/>
          <a:stretch/>
        </p:blipFill>
        <p:spPr>
          <a:xfrm>
            <a:off x="-75960" y="36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46;p18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Phase 2: The Truth Serum (Verification)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47;p18"/>
          <p:cNvSpPr/>
          <p:nvPr/>
        </p:nvSpPr>
        <p:spPr>
          <a:xfrm>
            <a:off x="571680" y="2390760"/>
            <a:ext cx="523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We don't just guess; we verify. This module uses a </a:t>
            </a: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RAG (Retrieval-Augmented Generation)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pipeline.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49;p18"/>
          <p:cNvSpPr/>
          <p:nvPr/>
        </p:nvSpPr>
        <p:spPr>
          <a:xfrm>
            <a:off x="905040" y="3191040"/>
            <a:ext cx="49050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Claim Extraction: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An LLM strips the post down to atomic, testable claims (e.g., "Mayor released sharks").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50;p18"/>
          <p:cNvSpPr/>
          <p:nvPr/>
        </p:nvSpPr>
        <p:spPr>
          <a:xfrm>
            <a:off x="905040" y="3990960"/>
            <a:ext cx="4905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Evidence Retrieval: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The system queries and fact check for live context.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51;p18"/>
          <p:cNvSpPr/>
          <p:nvPr/>
        </p:nvSpPr>
        <p:spPr>
          <a:xfrm>
            <a:off x="905040" y="4791240"/>
            <a:ext cx="4905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Adjudication: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A "Judge" LLM compares the claim against the evidence to issue a verdict: True, False, or Opinion.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" name="Google Shape;152;p18" descr="image.png"/>
          <p:cNvPicPr/>
          <p:nvPr/>
        </p:nvPicPr>
        <p:blipFill>
          <a:blip r:embed="rId2"/>
          <a:stretch/>
        </p:blipFill>
        <p:spPr>
          <a:xfrm>
            <a:off x="571680" y="324324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53;p18" descr="image.png"/>
          <p:cNvPicPr/>
          <p:nvPr/>
        </p:nvPicPr>
        <p:blipFill>
          <a:blip r:embed="rId3"/>
          <a:stretch/>
        </p:blipFill>
        <p:spPr>
          <a:xfrm>
            <a:off x="571680" y="404352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154;p18" descr="image.png"/>
          <p:cNvPicPr/>
          <p:nvPr/>
        </p:nvPicPr>
        <p:blipFill>
          <a:blip r:embed="rId4"/>
          <a:stretch/>
        </p:blipFill>
        <p:spPr>
          <a:xfrm>
            <a:off x="571680" y="484344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5"/>
          <a:stretch/>
        </p:blipFill>
        <p:spPr>
          <a:xfrm>
            <a:off x="6249960" y="2514600"/>
            <a:ext cx="5681520" cy="2656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59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160;p19" descr="image.png"/>
          <p:cNvPicPr/>
          <p:nvPr/>
        </p:nvPicPr>
        <p:blipFill>
          <a:blip r:embed="rId2"/>
          <a:stretch/>
        </p:blipFill>
        <p:spPr>
          <a:xfrm>
            <a:off x="571680" y="2162160"/>
            <a:ext cx="3492360" cy="346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161;p19" descr="image.png"/>
          <p:cNvPicPr/>
          <p:nvPr/>
        </p:nvPicPr>
        <p:blipFill>
          <a:blip r:embed="rId3"/>
          <a:stretch/>
        </p:blipFill>
        <p:spPr>
          <a:xfrm>
            <a:off x="4349880" y="2162160"/>
            <a:ext cx="3492360" cy="346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Google Shape;162;p19" descr="image.png"/>
          <p:cNvPicPr/>
          <p:nvPr/>
        </p:nvPicPr>
        <p:blipFill>
          <a:blip r:embed="rId4"/>
          <a:stretch/>
        </p:blipFill>
        <p:spPr>
          <a:xfrm>
            <a:off x="8128080" y="2162160"/>
            <a:ext cx="3492360" cy="346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Google Shape;163;p19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Under the Hood: Tech Stack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64;p19"/>
          <p:cNvSpPr/>
          <p:nvPr/>
        </p:nvSpPr>
        <p:spPr>
          <a:xfrm>
            <a:off x="866880" y="3105000"/>
            <a:ext cx="3046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Backend Core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65;p19"/>
          <p:cNvSpPr/>
          <p:nvPr/>
        </p:nvSpPr>
        <p:spPr>
          <a:xfrm>
            <a:off x="866880" y="3619440"/>
            <a:ext cx="290160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FastAPI (Python)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provides the async capabilities needed to handle long-running search queries without blocking other users.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66;p19"/>
          <p:cNvSpPr/>
          <p:nvPr/>
        </p:nvSpPr>
        <p:spPr>
          <a:xfrm>
            <a:off x="4645080" y="3105000"/>
            <a:ext cx="3046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Frontend Agent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67;p19"/>
          <p:cNvSpPr/>
          <p:nvPr/>
        </p:nvSpPr>
        <p:spPr>
          <a:xfrm>
            <a:off x="4645080" y="3619440"/>
            <a:ext cx="29016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Manifest V3 (JS)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ensures compliance with modern browser security while allowing powerful DOM manipulation.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68;p19"/>
          <p:cNvSpPr/>
          <p:nvPr/>
        </p:nvSpPr>
        <p:spPr>
          <a:xfrm>
            <a:off x="8423280" y="3105000"/>
            <a:ext cx="30466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Intelligence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69;p19"/>
          <p:cNvSpPr/>
          <p:nvPr/>
        </p:nvSpPr>
        <p:spPr>
          <a:xfrm>
            <a:off x="8423280" y="3619440"/>
            <a:ext cx="2901600" cy="10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Various models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provide the inference engines for both stylistic analysis and semantic reasoning.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" name="Google Shape;170;p19" descr="image.png"/>
          <p:cNvPicPr/>
          <p:nvPr/>
        </p:nvPicPr>
        <p:blipFill>
          <a:blip r:embed="rId5"/>
          <a:stretch/>
        </p:blipFill>
        <p:spPr>
          <a:xfrm>
            <a:off x="866880" y="2486160"/>
            <a:ext cx="33300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171;p19" descr="image.png"/>
          <p:cNvPicPr/>
          <p:nvPr/>
        </p:nvPicPr>
        <p:blipFill>
          <a:blip r:embed="rId6"/>
          <a:stretch/>
        </p:blipFill>
        <p:spPr>
          <a:xfrm>
            <a:off x="4645080" y="24861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172;p19" descr="image.png"/>
          <p:cNvPicPr/>
          <p:nvPr/>
        </p:nvPicPr>
        <p:blipFill>
          <a:blip r:embed="rId7"/>
          <a:stretch/>
        </p:blipFill>
        <p:spPr>
          <a:xfrm>
            <a:off x="8423280" y="2486160"/>
            <a:ext cx="380520" cy="38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77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178;p20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Data Flow: From Feed to Verdict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79;p20"/>
          <p:cNvSpPr/>
          <p:nvPr/>
        </p:nvSpPr>
        <p:spPr>
          <a:xfrm>
            <a:off x="3090960" y="2733840"/>
            <a:ext cx="6343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1. Observe: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User scrolls. Extension detects relevant info and scrape the text.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80;p20"/>
          <p:cNvSpPr/>
          <p:nvPr/>
        </p:nvSpPr>
        <p:spPr>
          <a:xfrm>
            <a:off x="3090960" y="3228840"/>
            <a:ext cx="6343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2. Transmit: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Text payload is sent securely to the Python API.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81;p20"/>
          <p:cNvSpPr/>
          <p:nvPr/>
        </p:nvSpPr>
        <p:spPr>
          <a:xfrm>
            <a:off x="3090960" y="3724200"/>
            <a:ext cx="634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3. Process: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Server hashes text (caching), runs AI Slope, then Truth Serum.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82;p20"/>
          <p:cNvSpPr/>
          <p:nvPr/>
        </p:nvSpPr>
        <p:spPr>
          <a:xfrm>
            <a:off x="3090960" y="4219560"/>
            <a:ext cx="634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4. Response: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Server returns a JSON verdict object (AI score, Facts check).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83;p20"/>
          <p:cNvSpPr/>
          <p:nvPr/>
        </p:nvSpPr>
        <p:spPr>
          <a:xfrm>
            <a:off x="3090960" y="4714920"/>
            <a:ext cx="63432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5. Inject: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Extension paints a colorful border and badge onto the post.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184;p20" descr="image.png"/>
          <p:cNvPicPr/>
          <p:nvPr/>
        </p:nvPicPr>
        <p:blipFill>
          <a:blip r:embed="rId2"/>
          <a:stretch/>
        </p:blipFill>
        <p:spPr>
          <a:xfrm>
            <a:off x="2757600" y="2786040"/>
            <a:ext cx="2188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185;p20" descr="image.png"/>
          <p:cNvPicPr/>
          <p:nvPr/>
        </p:nvPicPr>
        <p:blipFill>
          <a:blip r:embed="rId3"/>
          <a:stretch/>
        </p:blipFill>
        <p:spPr>
          <a:xfrm>
            <a:off x="2757600" y="328140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186;p20" descr="image.png"/>
          <p:cNvPicPr/>
          <p:nvPr/>
        </p:nvPicPr>
        <p:blipFill>
          <a:blip r:embed="rId4"/>
          <a:stretch/>
        </p:blipFill>
        <p:spPr>
          <a:xfrm>
            <a:off x="2757600" y="377676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" name="Google Shape;187;p20" descr="image.png"/>
          <p:cNvPicPr/>
          <p:nvPr/>
        </p:nvPicPr>
        <p:blipFill>
          <a:blip r:embed="rId5"/>
          <a:stretch/>
        </p:blipFill>
        <p:spPr>
          <a:xfrm>
            <a:off x="2757600" y="4272120"/>
            <a:ext cx="19008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188;p20" descr="image.png"/>
          <p:cNvPicPr/>
          <p:nvPr/>
        </p:nvPicPr>
        <p:blipFill>
          <a:blip r:embed="rId6"/>
          <a:stretch/>
        </p:blipFill>
        <p:spPr>
          <a:xfrm>
            <a:off x="2757600" y="4767120"/>
            <a:ext cx="190080" cy="1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93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194;p21" descr="image.png"/>
          <p:cNvPicPr/>
          <p:nvPr/>
        </p:nvPicPr>
        <p:blipFill>
          <a:blip r:embed="rId2"/>
          <a:stretch/>
        </p:blipFill>
        <p:spPr>
          <a:xfrm>
            <a:off x="571680" y="2062080"/>
            <a:ext cx="5238360" cy="38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195;p21" descr="image.png"/>
          <p:cNvPicPr/>
          <p:nvPr/>
        </p:nvPicPr>
        <p:blipFill>
          <a:blip r:embed="rId3"/>
          <a:stretch/>
        </p:blipFill>
        <p:spPr>
          <a:xfrm>
            <a:off x="6381720" y="1504800"/>
            <a:ext cx="5238360" cy="221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Google Shape;196;p21" descr="image.png"/>
          <p:cNvPicPr/>
          <p:nvPr/>
        </p:nvPicPr>
        <p:blipFill>
          <a:blip r:embed="rId4"/>
          <a:stretch/>
        </p:blipFill>
        <p:spPr>
          <a:xfrm>
            <a:off x="6381720" y="3914640"/>
            <a:ext cx="523836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Google Shape;197;p21"/>
          <p:cNvSpPr/>
          <p:nvPr/>
        </p:nvSpPr>
        <p:spPr>
          <a:xfrm>
            <a:off x="571680" y="571680"/>
            <a:ext cx="116010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Engineering Challenges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198;p21" descr="image.png"/>
          <p:cNvPicPr/>
          <p:nvPr/>
        </p:nvPicPr>
        <p:blipFill>
          <a:blip r:embed="rId5"/>
          <a:stretch/>
        </p:blipFill>
        <p:spPr>
          <a:xfrm>
            <a:off x="581040" y="2071800"/>
            <a:ext cx="5219280" cy="37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99;p21"/>
          <p:cNvSpPr/>
          <p:nvPr/>
        </p:nvSpPr>
        <p:spPr>
          <a:xfrm>
            <a:off x="6676920" y="1800360"/>
            <a:ext cx="488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283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DOM Obfuscation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200;p21"/>
          <p:cNvSpPr/>
          <p:nvPr/>
        </p:nvSpPr>
        <p:spPr>
          <a:xfrm>
            <a:off x="6676920" y="2314440"/>
            <a:ext cx="4647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Facebook randomizes CSS classes. </a:t>
            </a:r>
            <a:br>
              <a:rPr sz="1500"/>
            </a:b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We use structural heuristics instead of brittle class names.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201;p21"/>
          <p:cNvSpPr/>
          <p:nvPr/>
        </p:nvSpPr>
        <p:spPr>
          <a:xfrm>
            <a:off x="6676920" y="4210200"/>
            <a:ext cx="488016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136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38bdf8"/>
                </a:solidFill>
                <a:effectLst/>
                <a:uFillTx/>
                <a:latin typeface="Urbanist"/>
                <a:ea typeface="Urbanist"/>
              </a:rPr>
              <a:t>API limit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202;p21"/>
          <p:cNvSpPr/>
          <p:nvPr/>
        </p:nvSpPr>
        <p:spPr>
          <a:xfrm>
            <a:off x="6676920" y="4724280"/>
            <a:ext cx="46479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Meta limits bot scrapping and free API calls. We overcome their limitation with creative and sophisticated overlays.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Google Shape;203;p21" descr="image.png"/>
          <p:cNvPicPr/>
          <p:nvPr/>
        </p:nvPicPr>
        <p:blipFill>
          <a:blip r:embed="rId6"/>
          <a:stretch/>
        </p:blipFill>
        <p:spPr>
          <a:xfrm>
            <a:off x="6676920" y="1828800"/>
            <a:ext cx="327960" cy="26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Google Shape;204;p21" descr="image.png"/>
          <p:cNvPicPr/>
          <p:nvPr/>
        </p:nvPicPr>
        <p:blipFill>
          <a:blip r:embed="rId7"/>
          <a:stretch/>
        </p:blipFill>
        <p:spPr>
          <a:xfrm>
            <a:off x="6676920" y="4238640"/>
            <a:ext cx="261000" cy="26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232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Google Shape;233;p23"/>
          <p:cNvSpPr/>
          <p:nvPr/>
        </p:nvSpPr>
        <p:spPr>
          <a:xfrm>
            <a:off x="952560" y="2643120"/>
            <a:ext cx="10667520" cy="11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"We don't wait for the platform to moderate. We give the user the tools to see the truth instantly."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234;p23"/>
          <p:cNvSpPr/>
          <p:nvPr/>
        </p:nvSpPr>
        <p:spPr>
          <a:xfrm>
            <a:off x="571680" y="2643120"/>
            <a:ext cx="37800" cy="1104480"/>
          </a:xfrm>
          <a:prstGeom prst="rect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235;p23"/>
          <p:cNvSpPr/>
          <p:nvPr/>
        </p:nvSpPr>
        <p:spPr>
          <a:xfrm>
            <a:off x="571680" y="3938760"/>
            <a:ext cx="2999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94a3b8"/>
                </a:solidFill>
                <a:effectLst/>
                <a:uFillTx/>
                <a:latin typeface="Urbanist"/>
                <a:ea typeface="Urbanist"/>
              </a:rPr>
              <a:t>— Bot Father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240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Google Shape;241;p24"/>
          <p:cNvSpPr/>
          <p:nvPr/>
        </p:nvSpPr>
        <p:spPr>
          <a:xfrm>
            <a:off x="295200" y="571680"/>
            <a:ext cx="116010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34d399"/>
                </a:solidFill>
                <a:effectLst/>
                <a:uFillTx/>
                <a:latin typeface="Urbanist"/>
                <a:ea typeface="Urbanist"/>
              </a:rPr>
              <a:t>Questions?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42;p24"/>
          <p:cNvSpPr/>
          <p:nvPr/>
        </p:nvSpPr>
        <p:spPr>
          <a:xfrm>
            <a:off x="571680" y="1866960"/>
            <a:ext cx="110487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Ready to deploy the beat officers.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43;p24"/>
          <p:cNvSpPr/>
          <p:nvPr/>
        </p:nvSpPr>
        <p:spPr>
          <a:xfrm>
            <a:off x="571680" y="2552760"/>
            <a:ext cx="110487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8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  <a:hlinkClick r:id="rId2"/>
              </a:rPr>
              <a:t>https://github.com/VitalyChait/SocialPolicy</a:t>
            </a:r>
            <a:r>
              <a:rPr b="0" lang="en-US" sz="98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</a:rPr>
              <a:t>   | </a:t>
            </a:r>
            <a:r>
              <a:rPr b="0" lang="en-US" sz="980" strike="noStrike" u="none">
                <a:solidFill>
                  <a:srgbClr val="38bdf8"/>
                </a:solidFill>
                <a:effectLst/>
                <a:uFillTx/>
                <a:latin typeface="Arial"/>
                <a:ea typeface="Arial"/>
                <a:hlinkClick r:id="rId3"/>
              </a:rPr>
              <a:t>chaitvitaly@gmail.com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2026-01-04T17:47:50Z</dcterms:modified>
  <cp:revision>2</cp:revision>
  <dc:subject/>
  <dc:title/>
</cp:coreProperties>
</file>