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fonts/Font_5_Microsoft_YaHei_Regular.fntdata" ContentType="application/x-fontdata"/>
  <Override PartName="/ppt/fonts/Font_4_Urbanist_BoldItalic.fntdata" ContentType="application/x-fontdata"/>
  <Override PartName="/ppt/fonts/Font_1_Urbanist_Regular.fntdata" ContentType="application/x-fontdata"/>
  <Override PartName="/ppt/fonts/Font_2_Urbanist_Bold.fntdata" ContentType="application/x-fontdata"/>
  <Override PartName="/ppt/fonts/Font_3_Urbanist_Italic.fntdata" ContentType="application/x-fontdata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presProps.xml" ContentType="application/vnd.openxmlformats-officedocument.presentationml.presProps+xml"/>
  <Override PartName="/ppt/media/image18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  <p:embeddedFontLst>
    <p:embeddedFont>
      <p:font typeface="Urbanist"/>
      <p:regular r:id="rId15"/>
      <p:bold r:id="rId16"/>
      <p:italic r:id="rId17"/>
      <p:boldItalic r:id="rId18"/>
    </p:embeddedFont>
    <p:embeddedFont>
      <p:font typeface="Microsoft YaHei"/>
      <p:regular r:id="rId1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font" Target="fonts/Font_1_Urbanist_Regular.fntdata"/><Relationship Id="rId16" Type="http://schemas.openxmlformats.org/officeDocument/2006/relationships/font" Target="fonts/Font_2_Urbanist_Bold.fntdata"/><Relationship Id="rId17" Type="http://schemas.openxmlformats.org/officeDocument/2006/relationships/font" Target="fonts/Font_3_Urbanist_Italic.fntdata"/><Relationship Id="rId18" Type="http://schemas.openxmlformats.org/officeDocument/2006/relationships/font" Target="fonts/Font_4_Urbanist_BoldItalic.fntdata"/><Relationship Id="rId19" Type="http://schemas.openxmlformats.org/officeDocument/2006/relationships/font" Target="fonts/Font_5_Microsoft_YaHei_Regular.fntdata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8A61FC-364F-4F53-A2E3-E05CDC0B059C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0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0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A3D60F-0BE0-4E71-97BD-BC739DC2962E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DA52B5-E5C0-499C-BD89-4353BDF854DA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99D2BE-AE8D-4EF2-9474-BA732BFF2E25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194D00-4923-4D78-8CAB-2E41D0A5E2E7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D1C717-4237-4965-B044-111118E68CF7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ECF4F4-0C62-4356-9A02-135CCEB72E77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 rot="5400000">
            <a:off x="2310120" y="-251640"/>
            <a:ext cx="4524840" cy="822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7DFEBC-9B8E-4513-842C-77B886398709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 rot="5400000">
            <a:off x="4733280" y="2171520"/>
            <a:ext cx="5850360" cy="20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 rot="5400000">
            <a:off x="542520" y="189360"/>
            <a:ext cx="5850360" cy="601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79395E-A546-479A-BF24-30F624C1DF6C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197054-2DD6-41D9-979D-498FC1BC024A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A87210-0BCF-436A-BFD1-68228CAB4FFB}" type="slidenum">
              <a:rPr b="0" lang="en-US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hyperlink" Target="https://github.com/VitalyChait/SocialPolicy" TargetMode="External"/><Relationship Id="rId3" Type="http://schemas.openxmlformats.org/officeDocument/2006/relationships/hyperlink" Target="mailto:chaitvitaly@gmail.com" TargetMode="External"/><Relationship Id="rId4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4;p1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Google Shape;85;p13"/>
          <p:cNvSpPr/>
          <p:nvPr/>
        </p:nvSpPr>
        <p:spPr>
          <a:xfrm>
            <a:off x="295200" y="2564280"/>
            <a:ext cx="11600280" cy="75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54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Social Media Police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86;p13"/>
          <p:cNvSpPr/>
          <p:nvPr/>
        </p:nvSpPr>
        <p:spPr>
          <a:xfrm>
            <a:off x="2286000" y="3508920"/>
            <a:ext cx="7619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9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Restoring Trust in the Feed: A Client-Side Forensic Repository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87;p13"/>
          <p:cNvSpPr/>
          <p:nvPr/>
        </p:nvSpPr>
        <p:spPr>
          <a:xfrm>
            <a:off x="5619600" y="4255560"/>
            <a:ext cx="951480" cy="37080"/>
          </a:xfrm>
          <a:prstGeom prst="rect">
            <a:avLst/>
          </a:prstGeom>
          <a:solidFill>
            <a:srgbClr val="34d3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720" bIns="18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92;p1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Google Shape;93;p14" descr="image.png"/>
          <p:cNvPicPr/>
          <p:nvPr/>
        </p:nvPicPr>
        <p:blipFill>
          <a:blip r:embed="rId2"/>
          <a:stretch/>
        </p:blipFill>
        <p:spPr>
          <a:xfrm>
            <a:off x="6381720" y="1990800"/>
            <a:ext cx="523764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Google Shape;94;p14"/>
          <p:cNvSpPr/>
          <p:nvPr/>
        </p:nvSpPr>
        <p:spPr>
          <a:xfrm>
            <a:off x="571680" y="571680"/>
            <a:ext cx="116002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The Landscape: Trust in Crisis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95;p14"/>
          <p:cNvSpPr/>
          <p:nvPr/>
        </p:nvSpPr>
        <p:spPr>
          <a:xfrm>
            <a:off x="571680" y="2085840"/>
            <a:ext cx="523764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Social media feeds are facing an unprecedented crisis of authenticity, driven by three converging factors: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9" name="Google Shape;96;p14" descr="image.png"/>
          <p:cNvPicPr/>
          <p:nvPr/>
        </p:nvPicPr>
        <p:blipFill>
          <a:blip r:embed="rId3"/>
          <a:stretch/>
        </p:blipFill>
        <p:spPr>
          <a:xfrm>
            <a:off x="6391440" y="2000160"/>
            <a:ext cx="5218560" cy="37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Google Shape;97;p14"/>
          <p:cNvSpPr/>
          <p:nvPr/>
        </p:nvSpPr>
        <p:spPr>
          <a:xfrm>
            <a:off x="905040" y="2886120"/>
            <a:ext cx="4904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The AI Flood: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Generative AI creates synthetic "slop" engagement bait that mimics human sentiment perfectly.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98;p14"/>
          <p:cNvSpPr/>
          <p:nvPr/>
        </p:nvSpPr>
        <p:spPr>
          <a:xfrm>
            <a:off x="905040" y="3686040"/>
            <a:ext cx="49042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The Misinformation Gap: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Fact-checking typically occurs hours after a post has gone viral, too late to stop the spread.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99;p14"/>
          <p:cNvSpPr/>
          <p:nvPr/>
        </p:nvSpPr>
        <p:spPr>
          <a:xfrm>
            <a:off x="905040" y="4791240"/>
            <a:ext cx="49042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Walled Gardens: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Platforms like Facebook restrict API access, preventing traditional server-side analysis tools from working.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" name="Google Shape;100;p14" descr="image.png"/>
          <p:cNvPicPr/>
          <p:nvPr/>
        </p:nvPicPr>
        <p:blipFill>
          <a:blip r:embed="rId4"/>
          <a:stretch/>
        </p:blipFill>
        <p:spPr>
          <a:xfrm>
            <a:off x="571680" y="2938320"/>
            <a:ext cx="2368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Google Shape;101;p14" descr="image.png"/>
          <p:cNvPicPr/>
          <p:nvPr/>
        </p:nvPicPr>
        <p:blipFill>
          <a:blip r:embed="rId5"/>
          <a:stretch/>
        </p:blipFill>
        <p:spPr>
          <a:xfrm>
            <a:off x="571680" y="373860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Google Shape;102;p14" descr="image.png"/>
          <p:cNvPicPr/>
          <p:nvPr/>
        </p:nvPicPr>
        <p:blipFill>
          <a:blip r:embed="rId6"/>
          <a:stretch/>
        </p:blipFill>
        <p:spPr>
          <a:xfrm>
            <a:off x="571680" y="4843440"/>
            <a:ext cx="170280" cy="19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107;p1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Google Shape;108;p15"/>
          <p:cNvSpPr/>
          <p:nvPr/>
        </p:nvSpPr>
        <p:spPr>
          <a:xfrm>
            <a:off x="762120" y="762120"/>
            <a:ext cx="4799520" cy="16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The Solution: </a:t>
            </a:r>
            <a:br>
              <a:rPr sz="1800"/>
            </a:br>
            <a:r>
              <a:rPr b="1" lang="en-US" sz="3600" strike="noStrike" u="none">
                <a:solidFill>
                  <a:srgbClr val="34d399"/>
                </a:solidFill>
                <a:effectLst/>
                <a:uFillTx/>
                <a:latin typeface="Urbanist"/>
                <a:ea typeface="Urbanist"/>
              </a:rPr>
              <a:t>The Client-Side Observer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Google Shape;109;p15" descr="image.png"/>
          <p:cNvPicPr/>
          <p:nvPr/>
        </p:nvPicPr>
        <p:blipFill>
          <a:blip r:embed="rId2"/>
          <a:stretch/>
        </p:blipFill>
        <p:spPr>
          <a:xfrm>
            <a:off x="6095880" y="0"/>
            <a:ext cx="609480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Google Shape;110;p15"/>
          <p:cNvSpPr/>
          <p:nvPr/>
        </p:nvSpPr>
        <p:spPr>
          <a:xfrm>
            <a:off x="762120" y="2990880"/>
            <a:ext cx="457092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If we can't access the API, we go to the source: </a:t>
            </a: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The Browser.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11;p15"/>
          <p:cNvSpPr/>
          <p:nvPr/>
        </p:nvSpPr>
        <p:spPr>
          <a:xfrm>
            <a:off x="762120" y="3790800"/>
            <a:ext cx="45709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Our solution is a browser extension that acts as a beat officer on the user's screen. It bypasses API restrictions by analyzing content directly from the DOM as it renders.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12;p15"/>
          <p:cNvSpPr/>
          <p:nvPr/>
        </p:nvSpPr>
        <p:spPr>
          <a:xfrm>
            <a:off x="762120" y="5200560"/>
            <a:ext cx="45709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It observes, analyzes, and injects a forensic "badge" onto posts in real-time, giving users immediate verification without platform permission.</a:t>
            </a:r>
            <a:br>
              <a:rPr sz="1500"/>
            </a:b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The results are saved into a local DB.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129;p17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Google Shape;130;p17" descr="image.png"/>
          <p:cNvPicPr/>
          <p:nvPr/>
        </p:nvPicPr>
        <p:blipFill>
          <a:blip r:embed="rId2"/>
          <a:stretch/>
        </p:blipFill>
        <p:spPr>
          <a:xfrm>
            <a:off x="571680" y="1990800"/>
            <a:ext cx="523764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Google Shape;131;p17"/>
          <p:cNvSpPr/>
          <p:nvPr/>
        </p:nvSpPr>
        <p:spPr>
          <a:xfrm>
            <a:off x="571680" y="571680"/>
            <a:ext cx="116002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Phase 1: The AI Slope (Detection)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Google Shape;132;p17" descr="image.png"/>
          <p:cNvPicPr/>
          <p:nvPr/>
        </p:nvPicPr>
        <p:blipFill>
          <a:blip r:embed="rId3"/>
          <a:stretch/>
        </p:blipFill>
        <p:spPr>
          <a:xfrm>
            <a:off x="581040" y="2000160"/>
            <a:ext cx="5218560" cy="37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Google Shape;133;p17"/>
          <p:cNvSpPr/>
          <p:nvPr/>
        </p:nvSpPr>
        <p:spPr>
          <a:xfrm>
            <a:off x="6381720" y="2390760"/>
            <a:ext cx="52376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How do we spot a bot? We look for the </a:t>
            </a:r>
            <a:r>
              <a:rPr b="1" lang="en-US" sz="1500" strike="noStrike" u="none">
                <a:solidFill>
                  <a:srgbClr val="34d399"/>
                </a:solidFill>
                <a:effectLst/>
                <a:uFillTx/>
                <a:latin typeface="Urbanist"/>
                <a:ea typeface="Urbanist"/>
              </a:rPr>
              <a:t>absence of humanity.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4;p17"/>
          <p:cNvSpPr/>
          <p:nvPr/>
        </p:nvSpPr>
        <p:spPr>
          <a:xfrm>
            <a:off x="6715080" y="2886120"/>
            <a:ext cx="49042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Perplexity Analysis: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Measures the "surprise" of the text. AI models are predictable (low perplexity) and mostly do not have spelling mistakes, </a:t>
            </a: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humans are chaotic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5;p17"/>
          <p:cNvSpPr/>
          <p:nvPr/>
        </p:nvSpPr>
        <p:spPr>
          <a:xfrm>
            <a:off x="6715080" y="3990960"/>
            <a:ext cx="4904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Burstiness: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AI writes in uniform sentence lengths, </a:t>
            </a: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humans are chaotic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6;p17"/>
          <p:cNvSpPr/>
          <p:nvPr/>
        </p:nvSpPr>
        <p:spPr>
          <a:xfrm>
            <a:off x="6715080" y="4791240"/>
            <a:ext cx="490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Emotions: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Robots are cold, </a:t>
            </a: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humans are chaotic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Google Shape;137;p17" descr="image.png"/>
          <p:cNvPicPr/>
          <p:nvPr/>
        </p:nvPicPr>
        <p:blipFill>
          <a:blip r:embed="rId4"/>
          <a:stretch/>
        </p:blipFill>
        <p:spPr>
          <a:xfrm>
            <a:off x="6381720" y="2938320"/>
            <a:ext cx="23688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Google Shape;138;p17" descr="image.png"/>
          <p:cNvPicPr/>
          <p:nvPr/>
        </p:nvPicPr>
        <p:blipFill>
          <a:blip r:embed="rId5"/>
          <a:stretch/>
        </p:blipFill>
        <p:spPr>
          <a:xfrm>
            <a:off x="6381720" y="404352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Google Shape;139;p17" descr="image.png"/>
          <p:cNvPicPr/>
          <p:nvPr/>
        </p:nvPicPr>
        <p:blipFill>
          <a:blip r:embed="rId6"/>
          <a:stretch/>
        </p:blipFill>
        <p:spPr>
          <a:xfrm>
            <a:off x="6381720" y="4843440"/>
            <a:ext cx="189360" cy="19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144;p18" descr="image.png"/>
          <p:cNvPicPr/>
          <p:nvPr/>
        </p:nvPicPr>
        <p:blipFill>
          <a:blip r:embed="rId1"/>
          <a:stretch/>
        </p:blipFill>
        <p:spPr>
          <a:xfrm>
            <a:off x="-75960" y="36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Google Shape;146;p18"/>
          <p:cNvSpPr/>
          <p:nvPr/>
        </p:nvSpPr>
        <p:spPr>
          <a:xfrm>
            <a:off x="571680" y="571680"/>
            <a:ext cx="116002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Phase 2: The Truth Serum (Verification)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47;p18"/>
          <p:cNvSpPr/>
          <p:nvPr/>
        </p:nvSpPr>
        <p:spPr>
          <a:xfrm>
            <a:off x="571680" y="2390760"/>
            <a:ext cx="523764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We don't just guess; we verify. This module uses a </a:t>
            </a: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RAG (Retrieval-Augmented Generation)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pipeline.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9;p18"/>
          <p:cNvSpPr/>
          <p:nvPr/>
        </p:nvSpPr>
        <p:spPr>
          <a:xfrm>
            <a:off x="905040" y="3191040"/>
            <a:ext cx="490428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Claim Extraction: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An LLM strips the post down to atomic, testable claims (e.g., "Mayor released sharks").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50;p18"/>
          <p:cNvSpPr/>
          <p:nvPr/>
        </p:nvSpPr>
        <p:spPr>
          <a:xfrm>
            <a:off x="905040" y="3990960"/>
            <a:ext cx="4904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Evidence Retrieval: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The system queries and fact check for live context.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51;p18"/>
          <p:cNvSpPr/>
          <p:nvPr/>
        </p:nvSpPr>
        <p:spPr>
          <a:xfrm>
            <a:off x="905040" y="4791240"/>
            <a:ext cx="4904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Adjudication: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A "Judge" LLM compares the claim against the evidence to issue a verdict: True, False, or Opinion.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" name="Google Shape;152;p18" descr="image.png"/>
          <p:cNvPicPr/>
          <p:nvPr/>
        </p:nvPicPr>
        <p:blipFill>
          <a:blip r:embed="rId2"/>
          <a:stretch/>
        </p:blipFill>
        <p:spPr>
          <a:xfrm>
            <a:off x="571680" y="324324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Google Shape;153;p18" descr="image.png"/>
          <p:cNvPicPr/>
          <p:nvPr/>
        </p:nvPicPr>
        <p:blipFill>
          <a:blip r:embed="rId3"/>
          <a:stretch/>
        </p:blipFill>
        <p:spPr>
          <a:xfrm>
            <a:off x="571680" y="404352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Google Shape;154;p18" descr="image.png"/>
          <p:cNvPicPr/>
          <p:nvPr/>
        </p:nvPicPr>
        <p:blipFill>
          <a:blip r:embed="rId4"/>
          <a:stretch/>
        </p:blipFill>
        <p:spPr>
          <a:xfrm>
            <a:off x="571680" y="484344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" descr=""/>
          <p:cNvPicPr/>
          <p:nvPr/>
        </p:nvPicPr>
        <p:blipFill>
          <a:blip r:embed="rId5"/>
          <a:stretch/>
        </p:blipFill>
        <p:spPr>
          <a:xfrm>
            <a:off x="6249960" y="2514600"/>
            <a:ext cx="5680800" cy="2655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59;p19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Google Shape;160;p19" descr="image.png"/>
          <p:cNvPicPr/>
          <p:nvPr/>
        </p:nvPicPr>
        <p:blipFill>
          <a:blip r:embed="rId2"/>
          <a:stretch/>
        </p:blipFill>
        <p:spPr>
          <a:xfrm>
            <a:off x="571680" y="2162160"/>
            <a:ext cx="3491640" cy="346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Google Shape;161;p19" descr="image.png"/>
          <p:cNvPicPr/>
          <p:nvPr/>
        </p:nvPicPr>
        <p:blipFill>
          <a:blip r:embed="rId3"/>
          <a:stretch/>
        </p:blipFill>
        <p:spPr>
          <a:xfrm>
            <a:off x="4349880" y="2162160"/>
            <a:ext cx="3491640" cy="346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6" name="Google Shape;162;p19" descr="image.png"/>
          <p:cNvPicPr/>
          <p:nvPr/>
        </p:nvPicPr>
        <p:blipFill>
          <a:blip r:embed="rId4"/>
          <a:stretch/>
        </p:blipFill>
        <p:spPr>
          <a:xfrm>
            <a:off x="8128080" y="2162160"/>
            <a:ext cx="3491640" cy="346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Google Shape;163;p19"/>
          <p:cNvSpPr/>
          <p:nvPr/>
        </p:nvSpPr>
        <p:spPr>
          <a:xfrm>
            <a:off x="571680" y="571680"/>
            <a:ext cx="116002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Under the Hood: Tech Stack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64;p19"/>
          <p:cNvSpPr/>
          <p:nvPr/>
        </p:nvSpPr>
        <p:spPr>
          <a:xfrm>
            <a:off x="866880" y="3105000"/>
            <a:ext cx="304596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Backend Core</a:t>
            </a:r>
            <a:endParaRPr b="0" lang="en-US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65;p19"/>
          <p:cNvSpPr/>
          <p:nvPr/>
        </p:nvSpPr>
        <p:spPr>
          <a:xfrm>
            <a:off x="866880" y="3619440"/>
            <a:ext cx="2900880" cy="146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JS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provides the async capabilities needed to handle long-running search queries without blocking other users.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66;p19"/>
          <p:cNvSpPr/>
          <p:nvPr/>
        </p:nvSpPr>
        <p:spPr>
          <a:xfrm>
            <a:off x="4645080" y="3105000"/>
            <a:ext cx="304596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Frontend Agent</a:t>
            </a:r>
            <a:endParaRPr b="0" lang="en-US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67;p19"/>
          <p:cNvSpPr/>
          <p:nvPr/>
        </p:nvSpPr>
        <p:spPr>
          <a:xfrm>
            <a:off x="4645080" y="3619440"/>
            <a:ext cx="290088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Manifest V3 (JS)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ensures compliance with modern browser security while allowing powerful DOM manipulation.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68;p19"/>
          <p:cNvSpPr/>
          <p:nvPr/>
        </p:nvSpPr>
        <p:spPr>
          <a:xfrm>
            <a:off x="8423280" y="3105000"/>
            <a:ext cx="304596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Intelligence</a:t>
            </a:r>
            <a:endParaRPr b="0" lang="en-US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9;p19"/>
          <p:cNvSpPr/>
          <p:nvPr/>
        </p:nvSpPr>
        <p:spPr>
          <a:xfrm>
            <a:off x="8423280" y="3619440"/>
            <a:ext cx="2900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Various models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provide the inference engines for both stylistic analysis and semantic reasoning.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Google Shape;170;p19" descr="image.png"/>
          <p:cNvPicPr/>
          <p:nvPr/>
        </p:nvPicPr>
        <p:blipFill>
          <a:blip r:embed="rId5"/>
          <a:stretch/>
        </p:blipFill>
        <p:spPr>
          <a:xfrm>
            <a:off x="866880" y="2486160"/>
            <a:ext cx="332280" cy="37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Google Shape;171;p19" descr="image.png"/>
          <p:cNvPicPr/>
          <p:nvPr/>
        </p:nvPicPr>
        <p:blipFill>
          <a:blip r:embed="rId6"/>
          <a:stretch/>
        </p:blipFill>
        <p:spPr>
          <a:xfrm>
            <a:off x="4645080" y="2486160"/>
            <a:ext cx="379800" cy="37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Google Shape;172;p19" descr="image.png"/>
          <p:cNvPicPr/>
          <p:nvPr/>
        </p:nvPicPr>
        <p:blipFill>
          <a:blip r:embed="rId7"/>
          <a:stretch/>
        </p:blipFill>
        <p:spPr>
          <a:xfrm>
            <a:off x="8423280" y="2486160"/>
            <a:ext cx="379800" cy="379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77;p20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Google Shape;178;p20"/>
          <p:cNvSpPr/>
          <p:nvPr/>
        </p:nvSpPr>
        <p:spPr>
          <a:xfrm>
            <a:off x="571680" y="571680"/>
            <a:ext cx="116002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Data Flow: From Feed to Verdict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79;p20"/>
          <p:cNvSpPr/>
          <p:nvPr/>
        </p:nvSpPr>
        <p:spPr>
          <a:xfrm>
            <a:off x="3090960" y="2733840"/>
            <a:ext cx="6342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1. Observe: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User scrolls. Extension detects relevant info and scrape the text.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80;p20"/>
          <p:cNvSpPr/>
          <p:nvPr/>
        </p:nvSpPr>
        <p:spPr>
          <a:xfrm>
            <a:off x="3090960" y="3228840"/>
            <a:ext cx="63424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2. Transmit: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Text payload is sent securely to the Python API.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81;p20"/>
          <p:cNvSpPr/>
          <p:nvPr/>
        </p:nvSpPr>
        <p:spPr>
          <a:xfrm>
            <a:off x="3090960" y="3724200"/>
            <a:ext cx="6342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3. Process: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Server hashes text (caching), runs AI Slope, then Truth Serum.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82;p20"/>
          <p:cNvSpPr/>
          <p:nvPr/>
        </p:nvSpPr>
        <p:spPr>
          <a:xfrm>
            <a:off x="3090960" y="4219560"/>
            <a:ext cx="6342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4. Response: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Server returns a JSON verdict object (AI score, Facts check).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83;p20"/>
          <p:cNvSpPr/>
          <p:nvPr/>
        </p:nvSpPr>
        <p:spPr>
          <a:xfrm>
            <a:off x="3090960" y="4714920"/>
            <a:ext cx="6342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5. Inject:</a:t>
            </a: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 Extension paints a colorful border and badge onto the post.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184;p20" descr="image.png"/>
          <p:cNvPicPr/>
          <p:nvPr/>
        </p:nvPicPr>
        <p:blipFill>
          <a:blip r:embed="rId2"/>
          <a:stretch/>
        </p:blipFill>
        <p:spPr>
          <a:xfrm>
            <a:off x="2757600" y="2786040"/>
            <a:ext cx="2181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Google Shape;185;p20" descr="image.png"/>
          <p:cNvPicPr/>
          <p:nvPr/>
        </p:nvPicPr>
        <p:blipFill>
          <a:blip r:embed="rId3"/>
          <a:stretch/>
        </p:blipFill>
        <p:spPr>
          <a:xfrm>
            <a:off x="2757600" y="328140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Google Shape;186;p20" descr="image.png"/>
          <p:cNvPicPr/>
          <p:nvPr/>
        </p:nvPicPr>
        <p:blipFill>
          <a:blip r:embed="rId4"/>
          <a:stretch/>
        </p:blipFill>
        <p:spPr>
          <a:xfrm>
            <a:off x="2757600" y="377676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Google Shape;187;p20" descr="image.png"/>
          <p:cNvPicPr/>
          <p:nvPr/>
        </p:nvPicPr>
        <p:blipFill>
          <a:blip r:embed="rId5"/>
          <a:stretch/>
        </p:blipFill>
        <p:spPr>
          <a:xfrm>
            <a:off x="2757600" y="4272120"/>
            <a:ext cx="189360" cy="19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188;p20" descr="image.png"/>
          <p:cNvPicPr/>
          <p:nvPr/>
        </p:nvPicPr>
        <p:blipFill>
          <a:blip r:embed="rId6"/>
          <a:stretch/>
        </p:blipFill>
        <p:spPr>
          <a:xfrm>
            <a:off x="2757600" y="4767120"/>
            <a:ext cx="189360" cy="19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93;p2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Google Shape;194;p21" descr="image.png"/>
          <p:cNvPicPr/>
          <p:nvPr/>
        </p:nvPicPr>
        <p:blipFill>
          <a:blip r:embed="rId2"/>
          <a:stretch/>
        </p:blipFill>
        <p:spPr>
          <a:xfrm>
            <a:off x="571680" y="2062080"/>
            <a:ext cx="5237640" cy="380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Google Shape;195;p21" descr="image.png"/>
          <p:cNvPicPr/>
          <p:nvPr/>
        </p:nvPicPr>
        <p:blipFill>
          <a:blip r:embed="rId3"/>
          <a:stretch/>
        </p:blipFill>
        <p:spPr>
          <a:xfrm>
            <a:off x="6381720" y="1504800"/>
            <a:ext cx="5237640" cy="2218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Google Shape;196;p21" descr="image.png"/>
          <p:cNvPicPr/>
          <p:nvPr/>
        </p:nvPicPr>
        <p:blipFill>
          <a:blip r:embed="rId4"/>
          <a:stretch/>
        </p:blipFill>
        <p:spPr>
          <a:xfrm>
            <a:off x="6381720" y="3914640"/>
            <a:ext cx="5237640" cy="251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Google Shape;197;p21"/>
          <p:cNvSpPr/>
          <p:nvPr/>
        </p:nvSpPr>
        <p:spPr>
          <a:xfrm>
            <a:off x="571680" y="571680"/>
            <a:ext cx="116002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Engineering Challenges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4" name="Google Shape;198;p21" descr="image.png"/>
          <p:cNvPicPr/>
          <p:nvPr/>
        </p:nvPicPr>
        <p:blipFill>
          <a:blip r:embed="rId5"/>
          <a:stretch/>
        </p:blipFill>
        <p:spPr>
          <a:xfrm>
            <a:off x="581040" y="2071800"/>
            <a:ext cx="5218560" cy="37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Google Shape;199;p21"/>
          <p:cNvSpPr/>
          <p:nvPr/>
        </p:nvSpPr>
        <p:spPr>
          <a:xfrm>
            <a:off x="6676920" y="1800360"/>
            <a:ext cx="48794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832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DOM Obfuscation</a:t>
            </a:r>
            <a:endParaRPr b="0" lang="en-US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00;p21"/>
          <p:cNvSpPr/>
          <p:nvPr/>
        </p:nvSpPr>
        <p:spPr>
          <a:xfrm>
            <a:off x="6676920" y="2314440"/>
            <a:ext cx="4647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Facebook randomizes CSS classes. </a:t>
            </a:r>
            <a:br>
              <a:rPr sz="1500"/>
            </a:b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We use structural heuristics instead of brittle class names.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01;p21"/>
          <p:cNvSpPr/>
          <p:nvPr/>
        </p:nvSpPr>
        <p:spPr>
          <a:xfrm>
            <a:off x="6676920" y="4210200"/>
            <a:ext cx="4879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136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API limit</a:t>
            </a:r>
            <a:endParaRPr b="0" lang="en-US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02;p21"/>
          <p:cNvSpPr/>
          <p:nvPr/>
        </p:nvSpPr>
        <p:spPr>
          <a:xfrm>
            <a:off x="6676920" y="4724280"/>
            <a:ext cx="4647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Meta limits bot scrapping and free API calls. We overcome their limitation with creative and sophisticated overlays.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Google Shape;203;p21" descr="image.png"/>
          <p:cNvPicPr/>
          <p:nvPr/>
        </p:nvPicPr>
        <p:blipFill>
          <a:blip r:embed="rId6"/>
          <a:stretch/>
        </p:blipFill>
        <p:spPr>
          <a:xfrm>
            <a:off x="6676920" y="1828800"/>
            <a:ext cx="327240" cy="26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Google Shape;204;p21" descr="image.png"/>
          <p:cNvPicPr/>
          <p:nvPr/>
        </p:nvPicPr>
        <p:blipFill>
          <a:blip r:embed="rId7"/>
          <a:stretch/>
        </p:blipFill>
        <p:spPr>
          <a:xfrm>
            <a:off x="6676920" y="4238640"/>
            <a:ext cx="260280" cy="26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232;p2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Google Shape;233;p23"/>
          <p:cNvSpPr/>
          <p:nvPr/>
        </p:nvSpPr>
        <p:spPr>
          <a:xfrm>
            <a:off x="952560" y="2643120"/>
            <a:ext cx="10666800" cy="11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"We don't wait for the platform to moderate. We give the user the tools to see the truth instantly."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234;p23"/>
          <p:cNvSpPr/>
          <p:nvPr/>
        </p:nvSpPr>
        <p:spPr>
          <a:xfrm>
            <a:off x="571680" y="2643120"/>
            <a:ext cx="37080" cy="1103760"/>
          </a:xfrm>
          <a:prstGeom prst="rect">
            <a:avLst/>
          </a:prstGeom>
          <a:solidFill>
            <a:srgbClr val="34d3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235;p23"/>
          <p:cNvSpPr/>
          <p:nvPr/>
        </p:nvSpPr>
        <p:spPr>
          <a:xfrm>
            <a:off x="571680" y="3938760"/>
            <a:ext cx="2999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4a3b8"/>
                </a:solidFill>
                <a:effectLst/>
                <a:uFillTx/>
                <a:latin typeface="Urbanist"/>
                <a:ea typeface="Urbanist"/>
              </a:rPr>
              <a:t>— Bot Father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659880" y="0"/>
            <a:ext cx="436896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" descr=""/>
          <p:cNvPicPr/>
          <p:nvPr/>
        </p:nvPicPr>
        <p:blipFill>
          <a:blip r:embed="rId2"/>
          <a:stretch/>
        </p:blipFill>
        <p:spPr>
          <a:xfrm>
            <a:off x="6858000" y="0"/>
            <a:ext cx="480744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" descr=""/>
          <p:cNvPicPr/>
          <p:nvPr/>
        </p:nvPicPr>
        <p:blipFill>
          <a:blip r:embed="rId1"/>
          <a:stretch/>
        </p:blipFill>
        <p:spPr>
          <a:xfrm>
            <a:off x="441000" y="186120"/>
            <a:ext cx="4587840" cy="255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" descr=""/>
          <p:cNvPicPr/>
          <p:nvPr/>
        </p:nvPicPr>
        <p:blipFill>
          <a:blip r:embed="rId2"/>
          <a:stretch/>
        </p:blipFill>
        <p:spPr>
          <a:xfrm>
            <a:off x="5458320" y="360"/>
            <a:ext cx="673344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" descr=""/>
          <p:cNvPicPr/>
          <p:nvPr/>
        </p:nvPicPr>
        <p:blipFill>
          <a:blip r:embed="rId3"/>
          <a:stretch/>
        </p:blipFill>
        <p:spPr>
          <a:xfrm>
            <a:off x="88560" y="3200400"/>
            <a:ext cx="5397480" cy="364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240;p2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Google Shape;241;p24"/>
          <p:cNvSpPr/>
          <p:nvPr/>
        </p:nvSpPr>
        <p:spPr>
          <a:xfrm>
            <a:off x="295200" y="571680"/>
            <a:ext cx="11600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6000" strike="noStrike" u="none">
                <a:solidFill>
                  <a:srgbClr val="34d399"/>
                </a:solidFill>
                <a:effectLst/>
                <a:uFillTx/>
                <a:latin typeface="Urbanist"/>
                <a:ea typeface="Urbanist"/>
              </a:rPr>
              <a:t>Questions?</a:t>
            </a:r>
            <a:endParaRPr b="0" lang="en-US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242;p24"/>
          <p:cNvSpPr/>
          <p:nvPr/>
        </p:nvSpPr>
        <p:spPr>
          <a:xfrm>
            <a:off x="571680" y="1866960"/>
            <a:ext cx="11048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6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bd5e1"/>
                </a:solidFill>
                <a:effectLst/>
                <a:uFillTx/>
                <a:latin typeface="Urbanist"/>
                <a:ea typeface="Urbanist"/>
              </a:rPr>
              <a:t>Ready to deploy the beat officers.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243;p24"/>
          <p:cNvSpPr/>
          <p:nvPr/>
        </p:nvSpPr>
        <p:spPr>
          <a:xfrm>
            <a:off x="571680" y="2552760"/>
            <a:ext cx="110480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0000ff"/>
                </a:solidFill>
                <a:effectLst/>
                <a:uFillTx/>
                <a:latin typeface="Arial"/>
                <a:ea typeface="Arial"/>
                <a:hlinkClick r:id="rId2"/>
              </a:rPr>
              <a:t>https://github.com/VitalyChait/SocialPolicy</a:t>
            </a:r>
            <a:r>
              <a:rPr b="0" lang="en-US" sz="980" strike="noStrike" u="none">
                <a:solidFill>
                  <a:srgbClr val="38bdf8"/>
                </a:solidFill>
                <a:effectLst/>
                <a:uFillTx/>
                <a:latin typeface="Arial"/>
                <a:ea typeface="Arial"/>
              </a:rPr>
              <a:t>   | </a:t>
            </a:r>
            <a:r>
              <a:rPr b="0" lang="en-US" sz="980" strike="noStrike" u="none">
                <a:solidFill>
                  <a:srgbClr val="0000ff"/>
                </a:solidFill>
                <a:effectLst/>
                <a:uFillTx/>
                <a:latin typeface="Arial"/>
                <a:ea typeface="Arial"/>
                <a:hlinkClick r:id="rId3"/>
              </a:rPr>
              <a:t>chaitvitaly@gmail.com</a:t>
            </a:r>
            <a:endParaRPr b="0" lang="en-US" sz="9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2026-01-04T22:30:06Z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