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fonts/Font_4_Urbanist_BoldItalic.fntdata" ContentType="application/x-fontdata"/>
  <Override PartName="/ppt/fonts/Font_1_Urbanist_Regular.fntdata" ContentType="application/x-fontdata"/>
  <Override PartName="/ppt/fonts/Font_2_Urbanist_Bold.fntdata" ContentType="application/x-fontdata"/>
  <Override PartName="/ppt/fonts/Font_3_Urbanist_Italic.fntdata" ContentType="application/x-fontdata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presProps.xml" ContentType="application/vnd.openxmlformats-officedocument.presentationml.presProps+xml"/>
  <Override PartName="/ppt/media/image18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embeddedFontLst>
    <p:embeddedFont>
      <p:font typeface="Urbanist"/>
      <p:regular r:id="rId17"/>
      <p:bold r:id="rId18"/>
      <p:italic r:id="rId19"/>
      <p:boldItalic r:id="rId20"/>
    </p:embeddedFont>
    <p:embeddedFont>
      <p:font typeface="Microsoft YaHei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font" Target="fonts/Font_1_Urbanist_Regular.fntdata"/><Relationship Id="rId18" Type="http://schemas.openxmlformats.org/officeDocument/2006/relationships/font" Target="fonts/Font_2_Urbanist_Bold.fntdata"/><Relationship Id="rId19" Type="http://schemas.openxmlformats.org/officeDocument/2006/relationships/font" Target="fonts/Font_3_Urbanist_Italic.fntdata"/><Relationship Id="rId20" Type="http://schemas.openxmlformats.org/officeDocument/2006/relationships/font" Target="fonts/Font_4_Urbanist_BoldItalic.fntdata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AB6D9D-B79D-4EC9-BF45-7A228C90C56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03B73E-7807-4B1C-AEFD-F53B58A81EB5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E12AAE-BE2D-4B11-A475-4B240E56BF1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85DA68-5849-4397-BC3A-042FF7DEB54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EADAA8-0711-4522-8437-85E814793BC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914194-DB3C-46E3-AB2B-F043E5CA2D08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94D8E4-20F8-4A26-8C47-3FB5D864CD0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1D87F5E-CC30-437F-A824-00F2268F11B1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721651-7AB2-4D9A-9EC7-6700C247314F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6A5F4E-BBC3-496C-808D-E4F9DAAC391A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79D9C8-B058-48D3-B367-D4FF24C29986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DC5A2DA-B2BC-45AC-9EEE-3B9842F1A8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077F6A-C0AC-4A47-BF9D-1E25B149EFAB}" type="slidenum">
              <a:rPr b="0" lang="en-US" sz="1200" strike="noStrike" u="non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Google Shape;85;p13" descr="image.png"/>
          <p:cNvPicPr/>
          <p:nvPr/>
        </p:nvPicPr>
        <p:blipFill>
          <a:blip r:embed="rId2"/>
          <a:stretch/>
        </p:blipFill>
        <p:spPr>
          <a:xfrm>
            <a:off x="1314360" y="2120040"/>
            <a:ext cx="9562680" cy="261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Google Shape;86;p13"/>
          <p:cNvSpPr/>
          <p:nvPr/>
        </p:nvSpPr>
        <p:spPr>
          <a:xfrm>
            <a:off x="1685520" y="2701080"/>
            <a:ext cx="8820720" cy="8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60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SOCIAL MEDIA </a:t>
            </a:r>
            <a:r>
              <a:rPr b="1" lang="en-US" sz="60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POLICE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87;p13"/>
          <p:cNvSpPr/>
          <p:nvPr/>
        </p:nvSpPr>
        <p:spPr>
          <a:xfrm>
            <a:off x="1895400" y="3729960"/>
            <a:ext cx="840060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Real-time AI &amp; Misinformation Detection for Facebook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92;p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1" name="Google Shape;93;p 2" descr="image.png"/>
          <p:cNvPicPr/>
          <p:nvPr/>
        </p:nvPicPr>
        <p:blipFill>
          <a:blip r:embed="rId2"/>
          <a:stretch/>
        </p:blipFill>
        <p:spPr>
          <a:xfrm>
            <a:off x="6381720" y="1990800"/>
            <a:ext cx="5237280" cy="38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Google Shape;94;p 2"/>
          <p:cNvSpPr/>
          <p:nvPr/>
        </p:nvSpPr>
        <p:spPr>
          <a:xfrm>
            <a:off x="571680" y="571680"/>
            <a:ext cx="11599920" cy="54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8fafc"/>
                </a:solidFill>
                <a:effectLst/>
                <a:uFillTx/>
                <a:latin typeface="Urbanist"/>
                <a:ea typeface="Urbanist"/>
              </a:rPr>
              <a:t>The Landscape: Trust in Crisis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95;p 2"/>
          <p:cNvSpPr/>
          <p:nvPr/>
        </p:nvSpPr>
        <p:spPr>
          <a:xfrm>
            <a:off x="571680" y="2085840"/>
            <a:ext cx="5237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Social media feeds are facing an unprecedented crisis of authenticity, driven by three converging factors: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96;p 2" descr="image.png"/>
          <p:cNvPicPr/>
          <p:nvPr/>
        </p:nvPicPr>
        <p:blipFill>
          <a:blip r:embed="rId3"/>
          <a:stretch/>
        </p:blipFill>
        <p:spPr>
          <a:xfrm>
            <a:off x="6391440" y="2000160"/>
            <a:ext cx="5218200" cy="37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Google Shape;97;p 2"/>
          <p:cNvSpPr/>
          <p:nvPr/>
        </p:nvSpPr>
        <p:spPr>
          <a:xfrm>
            <a:off x="905040" y="2886120"/>
            <a:ext cx="49039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The AI Flood: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Generative AI creates synthetic "slop" engagement bait that mimics human sentiment perfectly.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98;p 2"/>
          <p:cNvSpPr/>
          <p:nvPr/>
        </p:nvSpPr>
        <p:spPr>
          <a:xfrm>
            <a:off x="905040" y="3686040"/>
            <a:ext cx="4903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The Misinformation Gap: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Fact-checking typically occurs hours after a post has gone viral, too late to stop the spread.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99;p 2"/>
          <p:cNvSpPr/>
          <p:nvPr/>
        </p:nvSpPr>
        <p:spPr>
          <a:xfrm>
            <a:off x="905040" y="4791240"/>
            <a:ext cx="49039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Walled Gardens:</a:t>
            </a:r>
            <a:r>
              <a:rPr b="0" lang="en-US" sz="1500" strike="noStrike" u="none">
                <a:solidFill>
                  <a:srgbClr val="cbd5e1"/>
                </a:solidFill>
                <a:effectLst/>
                <a:uFillTx/>
                <a:latin typeface="Urbanist"/>
                <a:ea typeface="Urbanist"/>
              </a:rPr>
              <a:t> Platforms like Facebook restrict API access, preventing traditional server-side analysis tools from working.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Google Shape;100;p 2" descr="image.png"/>
          <p:cNvPicPr/>
          <p:nvPr/>
        </p:nvPicPr>
        <p:blipFill>
          <a:blip r:embed="rId4"/>
          <a:stretch/>
        </p:blipFill>
        <p:spPr>
          <a:xfrm>
            <a:off x="571680" y="2938320"/>
            <a:ext cx="236520" cy="19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Google Shape;101;p 2" descr="image.png"/>
          <p:cNvPicPr/>
          <p:nvPr/>
        </p:nvPicPr>
        <p:blipFill>
          <a:blip r:embed="rId5"/>
          <a:stretch/>
        </p:blipFill>
        <p:spPr>
          <a:xfrm>
            <a:off x="571680" y="3738600"/>
            <a:ext cx="189000" cy="19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102;p 2" descr="image.png"/>
          <p:cNvPicPr/>
          <p:nvPr/>
        </p:nvPicPr>
        <p:blipFill>
          <a:blip r:embed="rId6"/>
          <a:stretch/>
        </p:blipFill>
        <p:spPr>
          <a:xfrm>
            <a:off x="571680" y="4843440"/>
            <a:ext cx="169920" cy="19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92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Google Shape;93;p14"/>
          <p:cNvSpPr/>
          <p:nvPr/>
        </p:nvSpPr>
        <p:spPr>
          <a:xfrm>
            <a:off x="762120" y="1662120"/>
            <a:ext cx="48002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The Solution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94;p14"/>
          <p:cNvSpPr/>
          <p:nvPr/>
        </p:nvSpPr>
        <p:spPr>
          <a:xfrm>
            <a:off x="762120" y="2357280"/>
            <a:ext cx="457164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Google Shape;95;p14" descr="image.png"/>
          <p:cNvPicPr/>
          <p:nvPr/>
        </p:nvPicPr>
        <p:blipFill>
          <a:blip r:embed="rId2"/>
          <a:stretch/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Google Shape;96;p14"/>
          <p:cNvSpPr/>
          <p:nvPr/>
        </p:nvSpPr>
        <p:spPr>
          <a:xfrm>
            <a:off x="762120" y="2757600"/>
            <a:ext cx="4571640" cy="35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Social Media Police (SMP) is a Chrome Extension that integrates directly into your Facebook feed.</a:t>
            </a:r>
            <a:br>
              <a:rPr sz="15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It acts as a digital guardian, analyzing posts and comments in real-time to detect AI-generated content and potential misinformation.</a:t>
            </a:r>
            <a:br>
              <a:rPr sz="15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Using advanced Large Language Models and heuristic analysis, SMP provides an instant trust score for the content you consume and aggregate the results into a local DB.</a:t>
            </a:r>
            <a:br>
              <a:rPr sz="1500"/>
            </a:b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97;p14"/>
          <p:cNvSpPr/>
          <p:nvPr/>
        </p:nvSpPr>
        <p:spPr>
          <a:xfrm>
            <a:off x="762120" y="336708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98;p14"/>
          <p:cNvSpPr/>
          <p:nvPr/>
        </p:nvSpPr>
        <p:spPr>
          <a:xfrm>
            <a:off x="762120" y="428148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103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104;p15" descr="image.png"/>
          <p:cNvPicPr/>
          <p:nvPr/>
        </p:nvPicPr>
        <p:blipFill>
          <a:blip r:embed="rId2"/>
          <a:stretch/>
        </p:blipFill>
        <p:spPr>
          <a:xfrm>
            <a:off x="571680" y="2347920"/>
            <a:ext cx="3492360" cy="32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105;p15" descr="image.png"/>
          <p:cNvPicPr/>
          <p:nvPr/>
        </p:nvPicPr>
        <p:blipFill>
          <a:blip r:embed="rId3"/>
          <a:stretch/>
        </p:blipFill>
        <p:spPr>
          <a:xfrm>
            <a:off x="4349880" y="2347920"/>
            <a:ext cx="3492360" cy="325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106;p15" descr="image.png"/>
          <p:cNvPicPr/>
          <p:nvPr/>
        </p:nvPicPr>
        <p:blipFill>
          <a:blip r:embed="rId4"/>
          <a:stretch/>
        </p:blipFill>
        <p:spPr>
          <a:xfrm>
            <a:off x="8128080" y="2347920"/>
            <a:ext cx="3492360" cy="32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Google Shape;107;p15"/>
          <p:cNvSpPr/>
          <p:nvPr/>
        </p:nvSpPr>
        <p:spPr>
          <a:xfrm>
            <a:off x="957600" y="3529080"/>
            <a:ext cx="272016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Seamless Integration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08;p15"/>
          <p:cNvSpPr/>
          <p:nvPr/>
        </p:nvSpPr>
        <p:spPr>
          <a:xfrm>
            <a:off x="866880" y="3995640"/>
            <a:ext cx="29016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Injects an "Analyze" button directly into the Facebook action bar, sitting naturally next to Like, Comment, and Share.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09;p15"/>
          <p:cNvSpPr/>
          <p:nvPr/>
        </p:nvSpPr>
        <p:spPr>
          <a:xfrm>
            <a:off x="4910760" y="3529080"/>
            <a:ext cx="236988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Real-time Analysis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10;p15"/>
          <p:cNvSpPr/>
          <p:nvPr/>
        </p:nvSpPr>
        <p:spPr>
          <a:xfrm>
            <a:off x="4645080" y="3995640"/>
            <a:ext cx="29016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Utilizes MutationObserver to automatically detect and process new posts instantly as you scroll through your feed.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11;p15"/>
          <p:cNvSpPr/>
          <p:nvPr/>
        </p:nvSpPr>
        <p:spPr>
          <a:xfrm>
            <a:off x="8904240" y="3529080"/>
            <a:ext cx="19400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Context Aware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12;p15"/>
          <p:cNvSpPr/>
          <p:nvPr/>
        </p:nvSpPr>
        <p:spPr>
          <a:xfrm>
            <a:off x="8423280" y="3995640"/>
            <a:ext cx="2901600" cy="12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Intelligently scrapes the original post context when analyzing comments to ensure high accuracy and relevance.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Google Shape;113;p15" descr="image.png"/>
          <p:cNvPicPr/>
          <p:nvPr/>
        </p:nvPicPr>
        <p:blipFill>
          <a:blip r:embed="rId5"/>
          <a:stretch/>
        </p:blipFill>
        <p:spPr>
          <a:xfrm>
            <a:off x="2089080" y="27766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Google Shape;114;p15" descr="image.png"/>
          <p:cNvPicPr/>
          <p:nvPr/>
        </p:nvPicPr>
        <p:blipFill>
          <a:blip r:embed="rId6"/>
          <a:stretch/>
        </p:blipFill>
        <p:spPr>
          <a:xfrm>
            <a:off x="5896080" y="2776680"/>
            <a:ext cx="39960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Google Shape;115;p15" descr="image.png"/>
          <p:cNvPicPr/>
          <p:nvPr/>
        </p:nvPicPr>
        <p:blipFill>
          <a:blip r:embed="rId7"/>
          <a:stretch/>
        </p:blipFill>
        <p:spPr>
          <a:xfrm>
            <a:off x="9617040" y="2776680"/>
            <a:ext cx="51408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Google Shape;116;p15"/>
          <p:cNvSpPr/>
          <p:nvPr/>
        </p:nvSpPr>
        <p:spPr>
          <a:xfrm>
            <a:off x="571680" y="571680"/>
            <a:ext cx="1160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Key Features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17;p15"/>
          <p:cNvSpPr/>
          <p:nvPr/>
        </p:nvSpPr>
        <p:spPr>
          <a:xfrm>
            <a:off x="57168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22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Google Shape;123;p16" descr="image.png"/>
          <p:cNvPicPr/>
          <p:nvPr/>
        </p:nvPicPr>
        <p:blipFill>
          <a:blip r:embed="rId2"/>
          <a:stretch/>
        </p:blipFill>
        <p:spPr>
          <a:xfrm>
            <a:off x="571680" y="1666800"/>
            <a:ext cx="5333760" cy="461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124;p16" descr="image.png"/>
          <p:cNvPicPr/>
          <p:nvPr/>
        </p:nvPicPr>
        <p:blipFill>
          <a:blip r:embed="rId3"/>
          <a:stretch/>
        </p:blipFill>
        <p:spPr>
          <a:xfrm>
            <a:off x="6286680" y="1666800"/>
            <a:ext cx="5333760" cy="461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Google Shape;125;p16"/>
          <p:cNvSpPr/>
          <p:nvPr/>
        </p:nvSpPr>
        <p:spPr>
          <a:xfrm>
            <a:off x="961920" y="2057400"/>
            <a:ext cx="4780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Heuristic Score (50%)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26;p16"/>
          <p:cNvSpPr/>
          <p:nvPr/>
        </p:nvSpPr>
        <p:spPr>
          <a:xfrm>
            <a:off x="961920" y="2523960"/>
            <a:ext cx="4552560" cy="900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27;p16"/>
          <p:cNvSpPr/>
          <p:nvPr/>
        </p:nvSpPr>
        <p:spPr>
          <a:xfrm>
            <a:off x="961920" y="2724120"/>
            <a:ext cx="45525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A fast, code-based analysis that scans for rigid patterns often found in machine-generated text.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28;p16"/>
          <p:cNvSpPr/>
          <p:nvPr/>
        </p:nvSpPr>
        <p:spPr>
          <a:xfrm>
            <a:off x="961920" y="3476520"/>
            <a:ext cx="4552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It checks for: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29;p16"/>
          <p:cNvSpPr/>
          <p:nvPr/>
        </p:nvSpPr>
        <p:spPr>
          <a:xfrm>
            <a:off x="6676920" y="2057400"/>
            <a:ext cx="47800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Model Intuition (50%)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30;p16"/>
          <p:cNvSpPr/>
          <p:nvPr/>
        </p:nvSpPr>
        <p:spPr>
          <a:xfrm>
            <a:off x="6676920" y="2523960"/>
            <a:ext cx="4552560" cy="9000"/>
          </a:xfrm>
          <a:prstGeom prst="rect">
            <a:avLst/>
          </a:prstGeom>
          <a:solidFill>
            <a:srgbClr val="44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31;p16"/>
          <p:cNvSpPr/>
          <p:nvPr/>
        </p:nvSpPr>
        <p:spPr>
          <a:xfrm>
            <a:off x="6676920" y="2724120"/>
            <a:ext cx="455256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Leverages advanced Large Language Models to assess the nuanced human quality of the text.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32;p16"/>
          <p:cNvSpPr/>
          <p:nvPr/>
        </p:nvSpPr>
        <p:spPr>
          <a:xfrm>
            <a:off x="6676920" y="3476520"/>
            <a:ext cx="45525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It evaluates: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33;p16"/>
          <p:cNvSpPr/>
          <p:nvPr/>
        </p:nvSpPr>
        <p:spPr>
          <a:xfrm>
            <a:off x="1305000" y="3933720"/>
            <a:ext cx="3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•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34;p16"/>
          <p:cNvSpPr/>
          <p:nvPr/>
        </p:nvSpPr>
        <p:spPr>
          <a:xfrm>
            <a:off x="1343160" y="3933720"/>
            <a:ext cx="417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Specific "AI" vocabulary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35;p16"/>
          <p:cNvSpPr/>
          <p:nvPr/>
        </p:nvSpPr>
        <p:spPr>
          <a:xfrm>
            <a:off x="1305000" y="4238640"/>
            <a:ext cx="3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•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36;p16"/>
          <p:cNvSpPr/>
          <p:nvPr/>
        </p:nvSpPr>
        <p:spPr>
          <a:xfrm>
            <a:off x="1343160" y="4238640"/>
            <a:ext cx="417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Unnatural structural patterns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37;p16"/>
          <p:cNvSpPr/>
          <p:nvPr/>
        </p:nvSpPr>
        <p:spPr>
          <a:xfrm>
            <a:off x="1305000" y="4543560"/>
            <a:ext cx="3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•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38;p16"/>
          <p:cNvSpPr/>
          <p:nvPr/>
        </p:nvSpPr>
        <p:spPr>
          <a:xfrm>
            <a:off x="1343160" y="4543560"/>
            <a:ext cx="417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Perfect grammar anomalies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39;p16"/>
          <p:cNvSpPr/>
          <p:nvPr/>
        </p:nvSpPr>
        <p:spPr>
          <a:xfrm>
            <a:off x="7020000" y="3933720"/>
            <a:ext cx="3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•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40;p16"/>
          <p:cNvSpPr/>
          <p:nvPr/>
        </p:nvSpPr>
        <p:spPr>
          <a:xfrm>
            <a:off x="7058160" y="3933720"/>
            <a:ext cx="417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Tone and emotional resonance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41;p16"/>
          <p:cNvSpPr/>
          <p:nvPr/>
        </p:nvSpPr>
        <p:spPr>
          <a:xfrm>
            <a:off x="7020000" y="4238640"/>
            <a:ext cx="3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•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42;p16"/>
          <p:cNvSpPr/>
          <p:nvPr/>
        </p:nvSpPr>
        <p:spPr>
          <a:xfrm>
            <a:off x="7058160" y="4238640"/>
            <a:ext cx="417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Logical flow and reasoning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43;p16"/>
          <p:cNvSpPr/>
          <p:nvPr/>
        </p:nvSpPr>
        <p:spPr>
          <a:xfrm>
            <a:off x="7020000" y="4543560"/>
            <a:ext cx="378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•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44;p16"/>
          <p:cNvSpPr/>
          <p:nvPr/>
        </p:nvSpPr>
        <p:spPr>
          <a:xfrm>
            <a:off x="7058160" y="4543560"/>
            <a:ext cx="41716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81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Burstiness (sentence variety)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45;p16"/>
          <p:cNvSpPr/>
          <p:nvPr/>
        </p:nvSpPr>
        <p:spPr>
          <a:xfrm>
            <a:off x="571680" y="571680"/>
            <a:ext cx="1160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The AI Engine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46;p16"/>
          <p:cNvSpPr/>
          <p:nvPr/>
        </p:nvSpPr>
        <p:spPr>
          <a:xfrm>
            <a:off x="57168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51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Google Shape;152;p17"/>
          <p:cNvSpPr/>
          <p:nvPr/>
        </p:nvSpPr>
        <p:spPr>
          <a:xfrm>
            <a:off x="571680" y="2117520"/>
            <a:ext cx="5381280" cy="1963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53;p17"/>
          <p:cNvSpPr/>
          <p:nvPr/>
        </p:nvSpPr>
        <p:spPr>
          <a:xfrm>
            <a:off x="762120" y="2307960"/>
            <a:ext cx="5000400" cy="15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Urbanist"/>
                <a:ea typeface="Urbanist"/>
              </a:rPr>
              <a:t>Punctuation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 Overuse of em-dashes (—) and "perfect" grammar lacking typical human errors.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54;p17"/>
          <p:cNvSpPr/>
          <p:nvPr/>
        </p:nvSpPr>
        <p:spPr>
          <a:xfrm>
            <a:off x="571680" y="2117520"/>
            <a:ext cx="37800" cy="196344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55;p17"/>
          <p:cNvSpPr/>
          <p:nvPr/>
        </p:nvSpPr>
        <p:spPr>
          <a:xfrm>
            <a:off x="6238800" y="2117520"/>
            <a:ext cx="5381280" cy="1963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56;p17"/>
          <p:cNvSpPr/>
          <p:nvPr/>
        </p:nvSpPr>
        <p:spPr>
          <a:xfrm>
            <a:off x="6429240" y="2307960"/>
            <a:ext cx="5000400" cy="158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Urbanist"/>
                <a:ea typeface="Urbanist"/>
              </a:rPr>
              <a:t>Vocabulary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 Frequent use of "AI Words" like </a:t>
            </a:r>
            <a:r>
              <a:rPr b="0" i="1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delve, tapestry, leverage, transformative, crucial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157;p17"/>
          <p:cNvSpPr/>
          <p:nvPr/>
        </p:nvSpPr>
        <p:spPr>
          <a:xfrm>
            <a:off x="6238800" y="2117520"/>
            <a:ext cx="37800" cy="196344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58;p17"/>
          <p:cNvSpPr/>
          <p:nvPr/>
        </p:nvSpPr>
        <p:spPr>
          <a:xfrm>
            <a:off x="571680" y="4367160"/>
            <a:ext cx="5381280" cy="1468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59;p17"/>
          <p:cNvSpPr/>
          <p:nvPr/>
        </p:nvSpPr>
        <p:spPr>
          <a:xfrm>
            <a:off x="762120" y="4557600"/>
            <a:ext cx="5000400" cy="10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Urbanist"/>
                <a:ea typeface="Urbanist"/>
              </a:rPr>
              <a:t>Structure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 The "Sandwich" structure (Intro -&gt; Bullets -&gt; Summary) and low burstiness (uniform sentence length).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60;p17"/>
          <p:cNvSpPr/>
          <p:nvPr/>
        </p:nvSpPr>
        <p:spPr>
          <a:xfrm>
            <a:off x="571680" y="4367160"/>
            <a:ext cx="37800" cy="146844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61;p17"/>
          <p:cNvSpPr/>
          <p:nvPr/>
        </p:nvSpPr>
        <p:spPr>
          <a:xfrm>
            <a:off x="6238800" y="4367160"/>
            <a:ext cx="5381280" cy="1468440"/>
          </a:xfrm>
          <a:prstGeom prst="rect">
            <a:avLst/>
          </a:prstGeom>
          <a:solidFill>
            <a:srgbClr val="1a1a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62;p17"/>
          <p:cNvSpPr/>
          <p:nvPr/>
        </p:nvSpPr>
        <p:spPr>
          <a:xfrm>
            <a:off x="6429240" y="4557600"/>
            <a:ext cx="5000400" cy="10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Urbanist"/>
                <a:ea typeface="Urbanist"/>
              </a:rPr>
              <a:t>Tone &amp; Consistency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 Overly generic, corporate "voice" lacking personal anecdotes, and unrealistic uniformity across posts.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63;p17"/>
          <p:cNvSpPr/>
          <p:nvPr/>
        </p:nvSpPr>
        <p:spPr>
          <a:xfrm>
            <a:off x="6238800" y="4367160"/>
            <a:ext cx="37800" cy="146844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64;p17"/>
          <p:cNvSpPr/>
          <p:nvPr/>
        </p:nvSpPr>
        <p:spPr>
          <a:xfrm>
            <a:off x="571680" y="571680"/>
            <a:ext cx="1160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Detection Heuristics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65;p17"/>
          <p:cNvSpPr/>
          <p:nvPr/>
        </p:nvSpPr>
        <p:spPr>
          <a:xfrm>
            <a:off x="57168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70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" name="Google Shape;171;p18" descr="image.png"/>
          <p:cNvPicPr/>
          <p:nvPr/>
        </p:nvPicPr>
        <p:blipFill>
          <a:blip r:embed="rId2"/>
          <a:stretch/>
        </p:blipFill>
        <p:spPr>
          <a:xfrm>
            <a:off x="571680" y="2190600"/>
            <a:ext cx="3492360" cy="357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Google Shape;172;p18" descr="image.png"/>
          <p:cNvPicPr/>
          <p:nvPr/>
        </p:nvPicPr>
        <p:blipFill>
          <a:blip r:embed="rId3"/>
          <a:stretch/>
        </p:blipFill>
        <p:spPr>
          <a:xfrm>
            <a:off x="4349880" y="2190600"/>
            <a:ext cx="3492360" cy="357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173;p18" descr="image.png"/>
          <p:cNvPicPr/>
          <p:nvPr/>
        </p:nvPicPr>
        <p:blipFill>
          <a:blip r:embed="rId4"/>
          <a:stretch/>
        </p:blipFill>
        <p:spPr>
          <a:xfrm>
            <a:off x="8128080" y="2190600"/>
            <a:ext cx="3492360" cy="357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Google Shape;174;p18" descr="image.png"/>
          <p:cNvPicPr/>
          <p:nvPr/>
        </p:nvPicPr>
        <p:blipFill>
          <a:blip r:embed="rId5"/>
          <a:stretch/>
        </p:blipFill>
        <p:spPr>
          <a:xfrm>
            <a:off x="771480" y="2390760"/>
            <a:ext cx="309204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Google Shape;175;p18" descr="image.png"/>
          <p:cNvPicPr/>
          <p:nvPr/>
        </p:nvPicPr>
        <p:blipFill>
          <a:blip r:embed="rId6"/>
          <a:stretch/>
        </p:blipFill>
        <p:spPr>
          <a:xfrm>
            <a:off x="4549680" y="2390760"/>
            <a:ext cx="309204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Google Shape;176;p18" descr="image.png"/>
          <p:cNvPicPr/>
          <p:nvPr/>
        </p:nvPicPr>
        <p:blipFill>
          <a:blip r:embed="rId7"/>
          <a:stretch/>
        </p:blipFill>
        <p:spPr>
          <a:xfrm>
            <a:off x="8328240" y="2390760"/>
            <a:ext cx="3092040" cy="19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Google Shape;177;p18"/>
          <p:cNvSpPr/>
          <p:nvPr/>
        </p:nvSpPr>
        <p:spPr>
          <a:xfrm>
            <a:off x="694080" y="4486320"/>
            <a:ext cx="324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Platform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178;p18"/>
          <p:cNvSpPr/>
          <p:nvPr/>
        </p:nvSpPr>
        <p:spPr>
          <a:xfrm>
            <a:off x="771480" y="4952880"/>
            <a:ext cx="30920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3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Chrome Extension</a:t>
            </a:r>
            <a:br>
              <a:rPr sz="18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 (Manifest V3)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179;p18"/>
          <p:cNvSpPr/>
          <p:nvPr/>
        </p:nvSpPr>
        <p:spPr>
          <a:xfrm>
            <a:off x="4472640" y="4486320"/>
            <a:ext cx="324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Languages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180;p18"/>
          <p:cNvSpPr/>
          <p:nvPr/>
        </p:nvSpPr>
        <p:spPr>
          <a:xfrm>
            <a:off x="4549680" y="4952880"/>
            <a:ext cx="3092040" cy="60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3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JavaScript (ES6+)</a:t>
            </a:r>
            <a:br>
              <a:rPr sz="18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 HTML5, CSS3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181;p18"/>
          <p:cNvSpPr/>
          <p:nvPr/>
        </p:nvSpPr>
        <p:spPr>
          <a:xfrm>
            <a:off x="8250840" y="4486320"/>
            <a:ext cx="3246840" cy="32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AI Providers</a:t>
            </a:r>
            <a:endParaRPr b="0" lang="en-U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182;p18"/>
          <p:cNvSpPr/>
          <p:nvPr/>
        </p:nvSpPr>
        <p:spPr>
          <a:xfrm>
            <a:off x="8328240" y="4952880"/>
            <a:ext cx="30920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33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OpenAI, Claude,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Gemini, or any OpenRouter supported model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Google Shape;183;p18" descr="image.png"/>
          <p:cNvPicPr/>
          <p:nvPr/>
        </p:nvPicPr>
        <p:blipFill>
          <a:blip r:embed="rId8"/>
          <a:stretch/>
        </p:blipFill>
        <p:spPr>
          <a:xfrm>
            <a:off x="771480" y="2390760"/>
            <a:ext cx="309204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Google Shape;184;p18" descr="image.png"/>
          <p:cNvPicPr/>
          <p:nvPr/>
        </p:nvPicPr>
        <p:blipFill>
          <a:blip r:embed="rId9"/>
          <a:stretch/>
        </p:blipFill>
        <p:spPr>
          <a:xfrm>
            <a:off x="4549680" y="2390760"/>
            <a:ext cx="309204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Google Shape;185;p18" descr="image.png"/>
          <p:cNvPicPr/>
          <p:nvPr/>
        </p:nvPicPr>
        <p:blipFill>
          <a:blip r:embed="rId10"/>
          <a:stretch/>
        </p:blipFill>
        <p:spPr>
          <a:xfrm>
            <a:off x="8328240" y="2390760"/>
            <a:ext cx="3092040" cy="19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Google Shape;186;p18"/>
          <p:cNvSpPr/>
          <p:nvPr/>
        </p:nvSpPr>
        <p:spPr>
          <a:xfrm>
            <a:off x="571680" y="571680"/>
            <a:ext cx="1160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Tech Stack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187;p18"/>
          <p:cNvSpPr/>
          <p:nvPr/>
        </p:nvSpPr>
        <p:spPr>
          <a:xfrm>
            <a:off x="57168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92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Google Shape;193;p19"/>
          <p:cNvSpPr/>
          <p:nvPr/>
        </p:nvSpPr>
        <p:spPr>
          <a:xfrm>
            <a:off x="571680" y="4148280"/>
            <a:ext cx="11048760" cy="3780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9080" bIns="19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194;p19"/>
          <p:cNvSpPr/>
          <p:nvPr/>
        </p:nvSpPr>
        <p:spPr>
          <a:xfrm>
            <a:off x="0" y="4548240"/>
            <a:ext cx="3132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1. Clone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195;p19"/>
          <p:cNvSpPr/>
          <p:nvPr/>
        </p:nvSpPr>
        <p:spPr>
          <a:xfrm>
            <a:off x="74520" y="4824360"/>
            <a:ext cx="29826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bbbbb"/>
                </a:solidFill>
                <a:effectLst/>
                <a:uFillTx/>
                <a:latin typeface="Urbanist"/>
                <a:ea typeface="Urbanist"/>
              </a:rPr>
              <a:t>Clone the repository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196;p19"/>
          <p:cNvSpPr/>
          <p:nvPr/>
        </p:nvSpPr>
        <p:spPr>
          <a:xfrm>
            <a:off x="2264760" y="3266280"/>
            <a:ext cx="3132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2. Open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197;p19"/>
          <p:cNvSpPr/>
          <p:nvPr/>
        </p:nvSpPr>
        <p:spPr>
          <a:xfrm>
            <a:off x="2339280" y="3542400"/>
            <a:ext cx="29826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bbbbb"/>
                </a:solidFill>
                <a:effectLst/>
                <a:uFillTx/>
                <a:latin typeface="Urbanist"/>
                <a:ea typeface="Urbanist"/>
              </a:rPr>
              <a:t>Go to chrome://extensions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198;p19"/>
          <p:cNvSpPr/>
          <p:nvPr/>
        </p:nvSpPr>
        <p:spPr>
          <a:xfrm>
            <a:off x="4529880" y="4548240"/>
            <a:ext cx="3132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3. Enable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99;p19"/>
          <p:cNvSpPr/>
          <p:nvPr/>
        </p:nvSpPr>
        <p:spPr>
          <a:xfrm>
            <a:off x="4604400" y="4824360"/>
            <a:ext cx="29826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bbbbb"/>
                </a:solidFill>
                <a:effectLst/>
                <a:uFillTx/>
                <a:latin typeface="Urbanist"/>
                <a:ea typeface="Urbanist"/>
              </a:rPr>
              <a:t>Turn on Developer Mode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00;p19"/>
          <p:cNvSpPr/>
          <p:nvPr/>
        </p:nvSpPr>
        <p:spPr>
          <a:xfrm>
            <a:off x="6795000" y="3266280"/>
            <a:ext cx="3132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4. Load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01;p19"/>
          <p:cNvSpPr/>
          <p:nvPr/>
        </p:nvSpPr>
        <p:spPr>
          <a:xfrm>
            <a:off x="6869520" y="3542400"/>
            <a:ext cx="29826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bbbbb"/>
                </a:solidFill>
                <a:effectLst/>
                <a:uFillTx/>
                <a:latin typeface="Urbanist"/>
                <a:ea typeface="Urbanist"/>
              </a:rPr>
              <a:t>Load unpacked extension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02;p19"/>
          <p:cNvSpPr/>
          <p:nvPr/>
        </p:nvSpPr>
        <p:spPr>
          <a:xfrm>
            <a:off x="9097200" y="4548240"/>
            <a:ext cx="3057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5. Configure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203;p19"/>
          <p:cNvSpPr/>
          <p:nvPr/>
        </p:nvSpPr>
        <p:spPr>
          <a:xfrm>
            <a:off x="9134640" y="4824360"/>
            <a:ext cx="2982600" cy="24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bbbbb"/>
                </a:solidFill>
                <a:effectLst/>
                <a:uFillTx/>
                <a:latin typeface="Urbanist"/>
                <a:ea typeface="Urbanist"/>
              </a:rPr>
              <a:t>Pin &amp; Add API Keys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204;p19"/>
          <p:cNvSpPr/>
          <p:nvPr/>
        </p:nvSpPr>
        <p:spPr>
          <a:xfrm>
            <a:off x="1451520" y="4052880"/>
            <a:ext cx="228240" cy="2282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def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205;p19"/>
          <p:cNvSpPr/>
          <p:nvPr/>
        </p:nvSpPr>
        <p:spPr>
          <a:xfrm>
            <a:off x="3716640" y="4052880"/>
            <a:ext cx="228240" cy="2282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def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Google Shape;206;p19"/>
          <p:cNvSpPr/>
          <p:nvPr/>
        </p:nvSpPr>
        <p:spPr>
          <a:xfrm>
            <a:off x="5981760" y="4052880"/>
            <a:ext cx="228240" cy="2282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def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Google Shape;207;p19"/>
          <p:cNvSpPr/>
          <p:nvPr/>
        </p:nvSpPr>
        <p:spPr>
          <a:xfrm>
            <a:off x="8246520" y="4052880"/>
            <a:ext cx="228240" cy="2282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def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208;p19"/>
          <p:cNvSpPr/>
          <p:nvPr/>
        </p:nvSpPr>
        <p:spPr>
          <a:xfrm>
            <a:off x="10511640" y="4052880"/>
            <a:ext cx="228240" cy="22824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38100">
            <a:solidFill>
              <a:srgbClr val="deff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Google Shape;209;p19"/>
          <p:cNvSpPr/>
          <p:nvPr/>
        </p:nvSpPr>
        <p:spPr>
          <a:xfrm>
            <a:off x="571680" y="571680"/>
            <a:ext cx="116010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Installation Guide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Google Shape;210;p19"/>
          <p:cNvSpPr/>
          <p:nvPr/>
        </p:nvSpPr>
        <p:spPr>
          <a:xfrm>
            <a:off x="57168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 txBox="1"/>
          <p:nvPr/>
        </p:nvSpPr>
        <p:spPr>
          <a:xfrm>
            <a:off x="463680" y="442440"/>
            <a:ext cx="6891840" cy="118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Case Examples – Post Facts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Google Shape;210;p 3"/>
          <p:cNvSpPr/>
          <p:nvPr/>
        </p:nvSpPr>
        <p:spPr>
          <a:xfrm>
            <a:off x="57204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1098000" y="1385640"/>
            <a:ext cx="3915360" cy="538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" name="" descr=""/>
          <p:cNvPicPr/>
          <p:nvPr/>
        </p:nvPicPr>
        <p:blipFill>
          <a:blip r:embed="rId2"/>
          <a:stretch/>
        </p:blipFill>
        <p:spPr>
          <a:xfrm>
            <a:off x="5425920" y="1395720"/>
            <a:ext cx="4643640" cy="540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 txBox="1"/>
          <p:nvPr/>
        </p:nvSpPr>
        <p:spPr>
          <a:xfrm>
            <a:off x="463680" y="442440"/>
            <a:ext cx="8140680" cy="118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Case Examples – User Comments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10;p 1"/>
          <p:cNvSpPr/>
          <p:nvPr/>
        </p:nvSpPr>
        <p:spPr>
          <a:xfrm>
            <a:off x="57204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652320" y="2114280"/>
            <a:ext cx="5743800" cy="3276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" descr=""/>
          <p:cNvPicPr/>
          <p:nvPr/>
        </p:nvPicPr>
        <p:blipFill>
          <a:blip r:embed="rId2"/>
          <a:stretch/>
        </p:blipFill>
        <p:spPr>
          <a:xfrm>
            <a:off x="6729840" y="2106360"/>
            <a:ext cx="4619880" cy="999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 txBox="1"/>
          <p:nvPr/>
        </p:nvSpPr>
        <p:spPr>
          <a:xfrm>
            <a:off x="463680" y="442440"/>
            <a:ext cx="6458040" cy="118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Case Examples – AI Slope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6656400" y="261000"/>
            <a:ext cx="4056480" cy="6594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2"/>
          <a:stretch/>
        </p:blipFill>
        <p:spPr>
          <a:xfrm>
            <a:off x="2571840" y="1352880"/>
            <a:ext cx="3374640" cy="543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Google Shape;210;p 2"/>
          <p:cNvSpPr/>
          <p:nvPr/>
        </p:nvSpPr>
        <p:spPr>
          <a:xfrm>
            <a:off x="57204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 txBox="1"/>
          <p:nvPr/>
        </p:nvSpPr>
        <p:spPr>
          <a:xfrm>
            <a:off x="463680" y="442440"/>
            <a:ext cx="6478920" cy="118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US" sz="3600" strike="noStrike" u="none">
                <a:solidFill>
                  <a:srgbClr val="f5f5f5"/>
                </a:solidFill>
                <a:effectLst/>
                <a:uFillTx/>
                <a:latin typeface="Urbanist"/>
                <a:ea typeface="Urbanist"/>
              </a:rPr>
              <a:t>Examples – Configurations</a:t>
            </a:r>
            <a:endParaRPr b="0" lang="en-US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Google Shape;210;p 4"/>
          <p:cNvSpPr/>
          <p:nvPr/>
        </p:nvSpPr>
        <p:spPr>
          <a:xfrm>
            <a:off x="572040" y="1266840"/>
            <a:ext cx="11048760" cy="18720"/>
          </a:xfrm>
          <a:prstGeom prst="rect">
            <a:avLst/>
          </a:prstGeom>
          <a:solidFill>
            <a:srgbClr val="deff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360" bIns="9360" anchor="ctr">
            <a:noAutofit/>
          </a:bodyPr>
          <a:p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942480" y="1929240"/>
            <a:ext cx="4295880" cy="424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" descr=""/>
          <p:cNvPicPr/>
          <p:nvPr/>
        </p:nvPicPr>
        <p:blipFill>
          <a:blip r:embed="rId2"/>
          <a:stretch/>
        </p:blipFill>
        <p:spPr>
          <a:xfrm>
            <a:off x="6416280" y="1386720"/>
            <a:ext cx="4585680" cy="513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217;p20"/>
          <p:cNvSpPr/>
          <p:nvPr/>
        </p:nvSpPr>
        <p:spPr>
          <a:xfrm>
            <a:off x="3620520" y="2181240"/>
            <a:ext cx="49503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7500" strike="noStrike" u="none">
                <a:solidFill>
                  <a:srgbClr val="deff9a"/>
                </a:solidFill>
                <a:effectLst/>
                <a:uFillTx/>
                <a:latin typeface="Urbanist"/>
                <a:ea typeface="Urbanist"/>
              </a:rPr>
              <a:t>Questions?</a:t>
            </a:r>
            <a:endParaRPr b="0" lang="en-US" sz="7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Google Shape;218;p20"/>
          <p:cNvSpPr/>
          <p:nvPr/>
        </p:nvSpPr>
        <p:spPr>
          <a:xfrm>
            <a:off x="3738600" y="3514680"/>
            <a:ext cx="47145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Thank you for your time.</a:t>
            </a:r>
            <a:br>
              <a:rPr sz="1500"/>
            </a:br>
            <a:br>
              <a:rPr sz="1500"/>
            </a:br>
            <a:br>
              <a:rPr sz="1500"/>
            </a:br>
            <a:br>
              <a:rPr sz="15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Social Media Police</a:t>
            </a:r>
            <a:br>
              <a:rPr sz="15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Vitaly Chait</a:t>
            </a:r>
            <a:br>
              <a:rPr sz="1500"/>
            </a:br>
            <a:r>
              <a:rPr b="0" lang="en-US" sz="1500" strike="noStrike" u="none">
                <a:solidFill>
                  <a:srgbClr val="e0e0e0"/>
                </a:solidFill>
                <a:effectLst/>
                <a:uFillTx/>
                <a:latin typeface="Urbanist"/>
                <a:ea typeface="Urbanist"/>
              </a:rPr>
              <a:t>https://github.com/VitalyChait/SMP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344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2026-01-06T09:07:01Z</dcterms:modified>
  <cp:revision>2</cp:revision>
  <dc:subject/>
  <dc:title/>
</cp:coreProperties>
</file>